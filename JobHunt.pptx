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1.svg" ContentType="image/svg+xml"/>
  <Override PartName="/ppt/media/image13.svg" ContentType="image/svg+xml"/>
  <Override PartName="/ppt/media/image15.svg" ContentType="image/svg+xml"/>
  <Override PartName="/ppt/media/image1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4630400" cy="8229600"/>
  <p:notesSz cx="8229600" cy="14630400"/>
  <p:embeddedFontLst>
    <p:embeddedFont>
      <p:font typeface="Funnel Display" pitchFamily="34" charset="0"/>
      <p:regular r:id="rId17"/>
    </p:embeddedFont>
    <p:embeddedFont>
      <p:font typeface="Funnel Display" pitchFamily="34" charset="-122"/>
      <p:regular r:id="rId18"/>
    </p:embeddedFont>
    <p:embeddedFont>
      <p:font typeface="Funnel Display" pitchFamily="34" charset="-120"/>
      <p:regular r:id="rId19"/>
    </p:embeddedFont>
    <p:embeddedFont>
      <p:font typeface="Funnel Sans" pitchFamily="34" charset="0"/>
      <p:regular r:id="rId20"/>
    </p:embeddedFont>
    <p:embeddedFont>
      <p:font typeface="Funnel Sans" pitchFamily="34" charset="-122"/>
      <p:regular r:id="rId21"/>
    </p:embeddedFont>
    <p:embeddedFont>
      <p:font typeface="Funnel Sans" pitchFamily="34" charset="-120"/>
      <p:regular r:id="rId22"/>
    </p:embeddedFont>
    <p:embeddedFont>
      <p:font typeface="Calibri" panose="020F0502020204030204" charset="0"/>
      <p:regular r:id="rId23"/>
      <p:bold r:id="rId24"/>
      <p:italic r:id="rId25"/>
      <p:boldItalic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5EB"/>
          </a:solidFill>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8.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image" Target="../media/image17.svg"/><Relationship Id="rId7" Type="http://schemas.openxmlformats.org/officeDocument/2006/relationships/image" Target="../media/image16.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0" Type="http://schemas.openxmlformats.org/officeDocument/2006/relationships/notesSlide" Target="../notesSlides/notesSlide9.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1.xml"/><Relationship Id="rId2" Type="http://schemas.openxmlformats.org/officeDocument/2006/relationships/image" Target="../media/image19.png"/><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7842" y="569476"/>
            <a:ext cx="4869775" cy="608648"/>
          </a:xfrm>
          <a:prstGeom prst="rect">
            <a:avLst/>
          </a:prstGeom>
          <a:noFill/>
        </p:spPr>
        <p:txBody>
          <a:bodyPr wrap="none" lIns="0" tIns="0" rIns="0" bIns="0" rtlCol="0" anchor="t"/>
          <a:lstStyle/>
          <a:p>
            <a:pPr marL="0" indent="0" algn="l">
              <a:lnSpc>
                <a:spcPts val="4750"/>
              </a:lnSpc>
              <a:buNone/>
            </a:pPr>
            <a:r>
              <a:rPr lang="en-US" sz="3800" dirty="0" err="1"/>
              <a:t>JobHunt</a:t>
            </a:r>
            <a:endParaRPr lang="en-US" sz="3800" dirty="0"/>
          </a:p>
          <a:p>
            <a:pPr marL="0" indent="0" algn="l">
              <a:lnSpc>
                <a:spcPts val="4750"/>
              </a:lnSpc>
              <a:buNone/>
            </a:pPr>
            <a:endParaRPr lang="en-US" sz="3800" dirty="0"/>
          </a:p>
        </p:txBody>
      </p:sp>
      <p:sp>
        <p:nvSpPr>
          <p:cNvPr id="3" name="Text 1"/>
          <p:cNvSpPr/>
          <p:nvPr/>
        </p:nvSpPr>
        <p:spPr>
          <a:xfrm>
            <a:off x="827842" y="1260872"/>
            <a:ext cx="9640967" cy="486966"/>
          </a:xfrm>
          <a:prstGeom prst="rect">
            <a:avLst/>
          </a:prstGeom>
          <a:noFill/>
        </p:spPr>
        <p:txBody>
          <a:bodyPr wrap="none" lIns="0" tIns="0" rIns="0" bIns="0" rtlCol="0" anchor="t"/>
          <a:lstStyle/>
          <a:p>
            <a:pPr marL="0" indent="0" algn="l">
              <a:lnSpc>
                <a:spcPts val="3800"/>
              </a:lnSpc>
              <a:buNone/>
            </a:pPr>
            <a:r>
              <a:rPr lang="en-US" sz="3050" dirty="0">
                <a:solidFill>
                  <a:srgbClr val="051D3A"/>
                </a:solidFill>
                <a:latin typeface="Funnel Display" pitchFamily="34" charset="0"/>
                <a:ea typeface="Funnel Display" pitchFamily="34" charset="-122"/>
                <a:cs typeface="Funnel Display" pitchFamily="34" charset="-120"/>
              </a:rPr>
              <a:t>A Comprehensive Job Searching and Hiring Platform</a:t>
            </a:r>
            <a:endParaRPr lang="en-US" sz="3050" dirty="0"/>
          </a:p>
        </p:txBody>
      </p:sp>
      <p:sp>
        <p:nvSpPr>
          <p:cNvPr id="4" name="Text 2"/>
          <p:cNvSpPr/>
          <p:nvPr/>
        </p:nvSpPr>
        <p:spPr>
          <a:xfrm>
            <a:off x="827842" y="2058233"/>
            <a:ext cx="12974717" cy="330994"/>
          </a:xfrm>
          <a:prstGeom prst="rect">
            <a:avLst/>
          </a:prstGeom>
          <a:noFill/>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Submitted by:</a:t>
            </a:r>
            <a:endParaRPr lang="en-US" sz="1600" dirty="0"/>
          </a:p>
        </p:txBody>
      </p:sp>
      <p:sp>
        <p:nvSpPr>
          <p:cNvPr id="5" name="Text 3"/>
          <p:cNvSpPr/>
          <p:nvPr/>
        </p:nvSpPr>
        <p:spPr>
          <a:xfrm>
            <a:off x="827842" y="2621994"/>
            <a:ext cx="12974717" cy="330994"/>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B3541"/>
                </a:solidFill>
                <a:latin typeface="Funnel Sans" pitchFamily="34" charset="0"/>
                <a:ea typeface="Funnel Sans" pitchFamily="34" charset="-122"/>
                <a:cs typeface="Funnel Sans" pitchFamily="34" charset="-120"/>
              </a:rPr>
              <a:t>Jyotirmaya Panda (RegNo:2241016085)</a:t>
            </a:r>
            <a:endParaRPr lang="en-US" sz="1600" dirty="0"/>
          </a:p>
        </p:txBody>
      </p:sp>
      <p:sp>
        <p:nvSpPr>
          <p:cNvPr id="6" name="Text 4"/>
          <p:cNvSpPr/>
          <p:nvPr/>
        </p:nvSpPr>
        <p:spPr>
          <a:xfrm>
            <a:off x="827842" y="3025378"/>
            <a:ext cx="12974717" cy="330994"/>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B3541"/>
                </a:solidFill>
                <a:latin typeface="Funnel Sans" pitchFamily="34" charset="0"/>
                <a:ea typeface="Funnel Sans" pitchFamily="34" charset="-122"/>
                <a:cs typeface="Funnel Sans" pitchFamily="34" charset="-120"/>
              </a:rPr>
              <a:t>Saranya Rout (Reg No: 2241018168)</a:t>
            </a:r>
            <a:endParaRPr lang="en-US" sz="1600" dirty="0"/>
          </a:p>
        </p:txBody>
      </p:sp>
      <p:sp>
        <p:nvSpPr>
          <p:cNvPr id="7" name="Text 5"/>
          <p:cNvSpPr/>
          <p:nvPr/>
        </p:nvSpPr>
        <p:spPr>
          <a:xfrm>
            <a:off x="827842" y="3428762"/>
            <a:ext cx="12974717" cy="330994"/>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B3541"/>
                </a:solidFill>
                <a:latin typeface="Funnel Sans" pitchFamily="34" charset="0"/>
                <a:ea typeface="Funnel Sans" pitchFamily="34" charset="-122"/>
                <a:cs typeface="Funnel Sans" pitchFamily="34" charset="-120"/>
              </a:rPr>
              <a:t>Abhisek Sahoo (RegNo:2241019023)</a:t>
            </a:r>
            <a:endParaRPr lang="en-US" sz="1600" dirty="0"/>
          </a:p>
        </p:txBody>
      </p:sp>
      <p:sp>
        <p:nvSpPr>
          <p:cNvPr id="8" name="Text 6"/>
          <p:cNvSpPr/>
          <p:nvPr/>
        </p:nvSpPr>
        <p:spPr>
          <a:xfrm>
            <a:off x="827842" y="3832146"/>
            <a:ext cx="12974717" cy="330994"/>
          </a:xfrm>
          <a:prstGeom prst="rect">
            <a:avLst/>
          </a:prstGeom>
          <a:noFill/>
        </p:spPr>
        <p:txBody>
          <a:bodyPr wrap="none" lIns="0" tIns="0" rIns="0" bIns="0" rtlCol="0" anchor="t"/>
          <a:lstStyle/>
          <a:p>
            <a:pPr marL="342900" indent="-342900" algn="l">
              <a:lnSpc>
                <a:spcPts val="2600"/>
              </a:lnSpc>
              <a:buSzPct val="100000"/>
              <a:buChar char="•"/>
            </a:pPr>
            <a:r>
              <a:rPr lang="en-US" sz="1600" dirty="0">
                <a:solidFill>
                  <a:srgbClr val="2B3541"/>
                </a:solidFill>
                <a:latin typeface="Funnel Sans" pitchFamily="34" charset="0"/>
                <a:ea typeface="Funnel Sans" pitchFamily="34" charset="-122"/>
                <a:cs typeface="Funnel Sans" pitchFamily="34" charset="-120"/>
              </a:rPr>
              <a:t>Om Suryakanta Panda (RegNo: 2241016091)</a:t>
            </a:r>
            <a:endParaRPr lang="en-US" sz="1600" dirty="0"/>
          </a:p>
        </p:txBody>
      </p:sp>
      <p:sp>
        <p:nvSpPr>
          <p:cNvPr id="9" name="Text 7"/>
          <p:cNvSpPr/>
          <p:nvPr/>
        </p:nvSpPr>
        <p:spPr>
          <a:xfrm>
            <a:off x="827842" y="4395907"/>
            <a:ext cx="12974717" cy="330994"/>
          </a:xfrm>
          <a:prstGeom prst="rect">
            <a:avLst/>
          </a:prstGeom>
          <a:noFill/>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In partial fulfillment for the award of the degree of</a:t>
            </a:r>
            <a:endParaRPr lang="en-US" sz="1600" dirty="0"/>
          </a:p>
        </p:txBody>
      </p:sp>
      <p:sp>
        <p:nvSpPr>
          <p:cNvPr id="10" name="Text 8"/>
          <p:cNvSpPr/>
          <p:nvPr/>
        </p:nvSpPr>
        <p:spPr>
          <a:xfrm>
            <a:off x="827842" y="5037296"/>
            <a:ext cx="11903512" cy="365165"/>
          </a:xfrm>
          <a:prstGeom prst="rect">
            <a:avLst/>
          </a:prstGeom>
          <a:noFill/>
        </p:spPr>
        <p:txBody>
          <a:bodyPr wrap="none" lIns="0" tIns="0" rIns="0" bIns="0" rtlCol="0" anchor="t"/>
          <a:lstStyle/>
          <a:p>
            <a:pPr marL="0" indent="0" algn="l">
              <a:lnSpc>
                <a:spcPts val="2850"/>
              </a:lnSpc>
              <a:buNone/>
            </a:pPr>
            <a:r>
              <a:rPr lang="en-US" sz="2300" dirty="0">
                <a:solidFill>
                  <a:srgbClr val="051D3A"/>
                </a:solidFill>
                <a:latin typeface="Funnel Display" pitchFamily="34" charset="0"/>
                <a:ea typeface="Funnel Display" pitchFamily="34" charset="-122"/>
                <a:cs typeface="Funnel Display" pitchFamily="34" charset="-120"/>
              </a:rPr>
              <a:t>BACHELOR OF TECHNOLOGY IN COMPUTER SCIENCE &amp; INFORMATION TECHNOLOGY</a:t>
            </a:r>
            <a:endParaRPr lang="en-US" sz="2300" dirty="0"/>
          </a:p>
        </p:txBody>
      </p:sp>
      <p:sp>
        <p:nvSpPr>
          <p:cNvPr id="12" name="Text 9"/>
          <p:cNvSpPr/>
          <p:nvPr/>
        </p:nvSpPr>
        <p:spPr>
          <a:xfrm>
            <a:off x="2992160" y="5899071"/>
            <a:ext cx="10817900" cy="330994"/>
          </a:xfrm>
          <a:prstGeom prst="rect">
            <a:avLst/>
          </a:prstGeom>
          <a:noFill/>
        </p:spPr>
        <p:txBody>
          <a:bodyPr wrap="none" lIns="0" tIns="0" rIns="0" bIns="0" rtlCol="0" anchor="t"/>
          <a:lstStyle/>
          <a:p>
            <a:pPr marL="0" indent="0" algn="l">
              <a:lnSpc>
                <a:spcPts val="2600"/>
              </a:lnSpc>
              <a:buNone/>
            </a:pPr>
            <a:endParaRPr lang="en-US" sz="1600" dirty="0"/>
          </a:p>
        </p:txBody>
      </p:sp>
      <p:pic>
        <p:nvPicPr>
          <p:cNvPr id="17" name="Picture 16"/>
          <p:cNvPicPr>
            <a:picLocks noChangeAspect="1"/>
          </p:cNvPicPr>
          <p:nvPr/>
        </p:nvPicPr>
        <p:blipFill>
          <a:blip r:embed="rId1"/>
          <a:stretch>
            <a:fillRect/>
          </a:stretch>
        </p:blipFill>
        <p:spPr>
          <a:xfrm>
            <a:off x="828040" y="5427980"/>
            <a:ext cx="2379980" cy="2376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53269" y="2963863"/>
            <a:ext cx="6187321" cy="615910"/>
          </a:xfrm>
          <a:prstGeom prst="rect">
            <a:avLst/>
          </a:prstGeom>
          <a:noFill/>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Project Overview: </a:t>
            </a:r>
            <a:r>
              <a:rPr lang="en-IN" altLang="en-US" sz="3850" dirty="0">
                <a:solidFill>
                  <a:srgbClr val="051D3A"/>
                </a:solidFill>
                <a:latin typeface="Funnel Display" pitchFamily="34" charset="0"/>
                <a:ea typeface="Funnel Display" pitchFamily="34" charset="-122"/>
                <a:cs typeface="Funnel Display" pitchFamily="34" charset="-120"/>
              </a:rPr>
              <a:t>JobHunt</a:t>
            </a:r>
            <a:endParaRPr lang="en-IN" altLang="en-US" sz="3850" dirty="0">
              <a:solidFill>
                <a:srgbClr val="051D3A"/>
              </a:solidFill>
              <a:latin typeface="Funnel Display" pitchFamily="34" charset="0"/>
              <a:ea typeface="Funnel Display" pitchFamily="34" charset="-122"/>
              <a:cs typeface="Funnel Display" pitchFamily="34" charset="-120"/>
            </a:endParaRPr>
          </a:p>
        </p:txBody>
      </p:sp>
      <p:sp>
        <p:nvSpPr>
          <p:cNvPr id="4" name="Text 1"/>
          <p:cNvSpPr/>
          <p:nvPr/>
        </p:nvSpPr>
        <p:spPr>
          <a:xfrm>
            <a:off x="753110" y="3579495"/>
            <a:ext cx="12954635" cy="1727200"/>
          </a:xfrm>
          <a:prstGeom prst="rect">
            <a:avLst/>
          </a:prstGeom>
          <a:noFill/>
        </p:spPr>
        <p:txBody>
          <a:bodyPr wrap="square" lIns="0" tIns="0" rIns="0" bIns="0" rtlCol="0" anchor="t"/>
          <a:lstStyle/>
          <a:p>
            <a:pPr marL="0" indent="0" algn="l">
              <a:lnSpc>
                <a:spcPts val="2600"/>
              </a:lnSpc>
              <a:buNone/>
            </a:pPr>
            <a:r>
              <a:rPr lang="en-IN" altLang="en-US" sz="1600" dirty="0"/>
              <a:t>Jobhunt</a:t>
            </a:r>
            <a:r>
              <a:rPr lang="en-US" altLang="en-US" sz="1600" dirty="0"/>
              <a:t> is a comprehensive web-based job searching and hiring platform designed to bridge the gap between job seekers and recruiters by providing a secure, efficient, and user-friendly recruitment environment. Built using the MERN stack (MongoDB, Express.js, React.js, and Node.js), the platform enables seamless job posting, application management, and profile handling through a modern single-page application. Role-based access ensures structured interaction for job seekers, recruiters, and administrators, while JWT-based authentication and encrypted credentials maintain data security and user privacy </a:t>
            </a:r>
            <a:endParaRPr lang="en-US" altLang="en-US" sz="1600" dirty="0"/>
          </a:p>
          <a:p>
            <a:pPr marL="0" indent="0" algn="l">
              <a:lnSpc>
                <a:spcPts val="2600"/>
              </a:lnSpc>
              <a:buNone/>
            </a:pPr>
            <a:endParaRPr lang="en-US" altLang="en-US" sz="1600" dirty="0"/>
          </a:p>
        </p:txBody>
      </p:sp>
      <p:sp>
        <p:nvSpPr>
          <p:cNvPr id="5" name="Text 2"/>
          <p:cNvSpPr/>
          <p:nvPr/>
        </p:nvSpPr>
        <p:spPr>
          <a:xfrm>
            <a:off x="753110" y="5471160"/>
            <a:ext cx="12954635" cy="1362075"/>
          </a:xfrm>
          <a:prstGeom prst="rect">
            <a:avLst/>
          </a:prstGeom>
          <a:noFill/>
        </p:spPr>
        <p:txBody>
          <a:bodyPr wrap="square" lIns="0" tIns="0" rIns="0" bIns="0" rtlCol="0" anchor="t"/>
          <a:lstStyle/>
          <a:p>
            <a:pPr marL="0" indent="0" algn="l">
              <a:lnSpc>
                <a:spcPts val="2600"/>
              </a:lnSpc>
              <a:buNone/>
            </a:pPr>
            <a:r>
              <a:rPr lang="en-US" altLang="en-US" sz="1600" dirty="0"/>
              <a:t>The platform focuses on improving recruitment efficiency by offering advanced job search and filtering, real-time application tracking, and responsive UI design using Tailwind CSS. Recruiters can manage job listings and review applications through dedicated dashboards, while candidates can monitor application status transparently. InLinked reduces recruitment friction, enhances user experience, and provides a scalable foundation for future enhancements such as AI-based job matching, video interviews, and mobile application support</a:t>
            </a:r>
            <a:endParaRPr lang="en-US" altLang="en-US" sz="1600" dirty="0"/>
          </a:p>
        </p:txBody>
      </p:sp>
      <p:pic>
        <p:nvPicPr>
          <p:cNvPr id="7" name="Picture 6"/>
          <p:cNvPicPr>
            <a:picLocks noChangeAspect="1"/>
          </p:cNvPicPr>
          <p:nvPr/>
        </p:nvPicPr>
        <p:blipFill>
          <a:blip r:embed="rId1"/>
          <a:stretch>
            <a:fillRect/>
          </a:stretch>
        </p:blipFill>
        <p:spPr>
          <a:xfrm>
            <a:off x="0" y="0"/>
            <a:ext cx="14630400" cy="28658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4864" y="545028"/>
            <a:ext cx="8394502" cy="615910"/>
          </a:xfrm>
          <a:prstGeom prst="rect">
            <a:avLst/>
          </a:prstGeom>
          <a:noFill/>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Addressing Recruitment Challenges</a:t>
            </a:r>
            <a:endParaRPr lang="en-US" sz="3850" dirty="0"/>
          </a:p>
        </p:txBody>
      </p:sp>
      <p:sp>
        <p:nvSpPr>
          <p:cNvPr id="3" name="Text 1"/>
          <p:cNvSpPr/>
          <p:nvPr/>
        </p:nvSpPr>
        <p:spPr>
          <a:xfrm>
            <a:off x="742315" y="1330960"/>
            <a:ext cx="12954635" cy="1974215"/>
          </a:xfrm>
          <a:prstGeom prst="rect">
            <a:avLst/>
          </a:prstGeom>
          <a:noFill/>
        </p:spPr>
        <p:txBody>
          <a:bodyPr wrap="square" lIns="0" tIns="0" rIns="0" bIns="0" rtlCol="0" anchor="t"/>
          <a:lstStyle/>
          <a:p>
            <a:pPr marL="0" indent="0" algn="l">
              <a:lnSpc>
                <a:spcPts val="2600"/>
              </a:lnSpc>
              <a:buNone/>
            </a:pPr>
            <a:r>
              <a:rPr lang="en-US" altLang="en-US" sz="1600" dirty="0"/>
              <a:t>In the modern recruitment landscape, several critical challenges impact the efficiency and reliability of hiring platforms. Inefficient application tracking often leaves job seekers without timely feedback and burdens recruiters with unorganized applicant data. Data security is another major concern, as sensitive personal and professional information is frequently vulnerable to misuse or unauthorized access. Additionally, poor user experience caused by cluttered interfaces makes navigation difficult for users, while the lack of real-time updates results in outdated job listings and delayed application status information. Together, these issues create frustration for both job seekers and recruiters, highlighting the need for a secure, intuitive, and real-time recruitment solution.</a:t>
            </a:r>
            <a:endParaRPr lang="en-US" altLang="en-US" sz="1600" dirty="0"/>
          </a:p>
        </p:txBody>
      </p:sp>
      <p:sp>
        <p:nvSpPr>
          <p:cNvPr id="4" name="Shape 2"/>
          <p:cNvSpPr/>
          <p:nvPr/>
        </p:nvSpPr>
        <p:spPr>
          <a:xfrm>
            <a:off x="837724" y="3747016"/>
            <a:ext cx="6372701" cy="1233249"/>
          </a:xfrm>
          <a:prstGeom prst="roundRect">
            <a:avLst>
              <a:gd name="adj" fmla="val 8897"/>
            </a:avLst>
          </a:prstGeom>
          <a:solidFill>
            <a:srgbClr val="FAF5EB"/>
          </a:solidFill>
          <a:ln w="22860">
            <a:solidFill>
              <a:srgbClr val="D5CDBE"/>
            </a:solidFill>
            <a:prstDash val="solid"/>
          </a:ln>
        </p:spPr>
      </p:sp>
      <p:sp>
        <p:nvSpPr>
          <p:cNvPr id="5" name="Shape 3"/>
          <p:cNvSpPr/>
          <p:nvPr/>
        </p:nvSpPr>
        <p:spPr>
          <a:xfrm>
            <a:off x="814864" y="3747016"/>
            <a:ext cx="91440" cy="1233249"/>
          </a:xfrm>
          <a:prstGeom prst="roundRect">
            <a:avLst>
              <a:gd name="adj" fmla="val 96208"/>
            </a:avLst>
          </a:prstGeom>
          <a:solidFill>
            <a:srgbClr val="3371A5"/>
          </a:solidFill>
        </p:spPr>
      </p:sp>
      <p:sp>
        <p:nvSpPr>
          <p:cNvPr id="6" name="Text 4"/>
          <p:cNvSpPr/>
          <p:nvPr/>
        </p:nvSpPr>
        <p:spPr>
          <a:xfrm>
            <a:off x="1138595" y="3979307"/>
            <a:ext cx="246411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Inefficient Tracking</a:t>
            </a:r>
            <a:endParaRPr lang="en-US" sz="1900" dirty="0"/>
          </a:p>
        </p:txBody>
      </p:sp>
      <p:sp>
        <p:nvSpPr>
          <p:cNvPr id="7" name="Text 5"/>
          <p:cNvSpPr/>
          <p:nvPr/>
        </p:nvSpPr>
        <p:spPr>
          <a:xfrm>
            <a:off x="1138595" y="4412933"/>
            <a:ext cx="5839539" cy="335042"/>
          </a:xfrm>
          <a:prstGeom prst="rect">
            <a:avLst/>
          </a:prstGeom>
          <a:noFill/>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Candidates rarely receive feedback on application status.</a:t>
            </a:r>
            <a:endParaRPr lang="en-US" sz="1600" dirty="0"/>
          </a:p>
        </p:txBody>
      </p:sp>
      <p:sp>
        <p:nvSpPr>
          <p:cNvPr id="8" name="Shape 6"/>
          <p:cNvSpPr/>
          <p:nvPr/>
        </p:nvSpPr>
        <p:spPr>
          <a:xfrm>
            <a:off x="7419856" y="3747016"/>
            <a:ext cx="6372820" cy="1233249"/>
          </a:xfrm>
          <a:prstGeom prst="roundRect">
            <a:avLst>
              <a:gd name="adj" fmla="val 8897"/>
            </a:avLst>
          </a:prstGeom>
          <a:solidFill>
            <a:srgbClr val="FAF5EB"/>
          </a:solidFill>
          <a:ln w="22860">
            <a:solidFill>
              <a:srgbClr val="D5CDBE"/>
            </a:solidFill>
            <a:prstDash val="solid"/>
          </a:ln>
        </p:spPr>
      </p:sp>
      <p:sp>
        <p:nvSpPr>
          <p:cNvPr id="9" name="Shape 7"/>
          <p:cNvSpPr/>
          <p:nvPr/>
        </p:nvSpPr>
        <p:spPr>
          <a:xfrm>
            <a:off x="7396996" y="3747016"/>
            <a:ext cx="91440" cy="1233249"/>
          </a:xfrm>
          <a:prstGeom prst="roundRect">
            <a:avLst>
              <a:gd name="adj" fmla="val 96208"/>
            </a:avLst>
          </a:prstGeom>
          <a:solidFill>
            <a:srgbClr val="3371A5"/>
          </a:solidFill>
        </p:spPr>
      </p:sp>
      <p:sp>
        <p:nvSpPr>
          <p:cNvPr id="10" name="Text 8"/>
          <p:cNvSpPr/>
          <p:nvPr/>
        </p:nvSpPr>
        <p:spPr>
          <a:xfrm>
            <a:off x="7720727" y="3979307"/>
            <a:ext cx="246411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Data Security</a:t>
            </a:r>
            <a:endParaRPr lang="en-US" sz="1900" dirty="0"/>
          </a:p>
        </p:txBody>
      </p:sp>
      <p:sp>
        <p:nvSpPr>
          <p:cNvPr id="11" name="Text 9"/>
          <p:cNvSpPr/>
          <p:nvPr/>
        </p:nvSpPr>
        <p:spPr>
          <a:xfrm>
            <a:off x="7720727" y="4412933"/>
            <a:ext cx="5839658" cy="335042"/>
          </a:xfrm>
          <a:prstGeom prst="rect">
            <a:avLst/>
          </a:prstGeom>
          <a:noFill/>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Personal data is often mishandled on generic platforms.</a:t>
            </a:r>
            <a:endParaRPr lang="en-US" sz="1600" dirty="0"/>
          </a:p>
        </p:txBody>
      </p:sp>
      <p:sp>
        <p:nvSpPr>
          <p:cNvPr id="12" name="Shape 10"/>
          <p:cNvSpPr/>
          <p:nvPr/>
        </p:nvSpPr>
        <p:spPr>
          <a:xfrm>
            <a:off x="837724" y="5189696"/>
            <a:ext cx="6372701" cy="1568291"/>
          </a:xfrm>
          <a:prstGeom prst="roundRect">
            <a:avLst>
              <a:gd name="adj" fmla="val 6997"/>
            </a:avLst>
          </a:prstGeom>
          <a:solidFill>
            <a:srgbClr val="FAF5EB"/>
          </a:solidFill>
          <a:ln w="22860">
            <a:solidFill>
              <a:srgbClr val="D5CDBE"/>
            </a:solidFill>
            <a:prstDash val="solid"/>
          </a:ln>
        </p:spPr>
      </p:sp>
      <p:sp>
        <p:nvSpPr>
          <p:cNvPr id="13" name="Shape 11"/>
          <p:cNvSpPr/>
          <p:nvPr/>
        </p:nvSpPr>
        <p:spPr>
          <a:xfrm>
            <a:off x="814864" y="5189696"/>
            <a:ext cx="91440" cy="1568291"/>
          </a:xfrm>
          <a:prstGeom prst="roundRect">
            <a:avLst>
              <a:gd name="adj" fmla="val 96208"/>
            </a:avLst>
          </a:prstGeom>
          <a:solidFill>
            <a:srgbClr val="3371A5"/>
          </a:solidFill>
        </p:spPr>
      </p:sp>
      <p:sp>
        <p:nvSpPr>
          <p:cNvPr id="14" name="Text 12"/>
          <p:cNvSpPr/>
          <p:nvPr/>
        </p:nvSpPr>
        <p:spPr>
          <a:xfrm>
            <a:off x="1138595" y="5421987"/>
            <a:ext cx="2504480"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Poor User Experience</a:t>
            </a:r>
            <a:endParaRPr lang="en-US" sz="1900" dirty="0"/>
          </a:p>
        </p:txBody>
      </p:sp>
      <p:sp>
        <p:nvSpPr>
          <p:cNvPr id="15" name="Text 13"/>
          <p:cNvSpPr/>
          <p:nvPr/>
        </p:nvSpPr>
        <p:spPr>
          <a:xfrm>
            <a:off x="1138595" y="5855613"/>
            <a:ext cx="5839539" cy="670084"/>
          </a:xfrm>
          <a:prstGeom prst="rect">
            <a:avLst/>
          </a:prstGeom>
          <a:noFill/>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Cluttered interfaces hinder navigation for non-tech-savvy users.</a:t>
            </a:r>
            <a:endParaRPr lang="en-US" sz="1600" dirty="0"/>
          </a:p>
        </p:txBody>
      </p:sp>
      <p:sp>
        <p:nvSpPr>
          <p:cNvPr id="16" name="Shape 14"/>
          <p:cNvSpPr/>
          <p:nvPr/>
        </p:nvSpPr>
        <p:spPr>
          <a:xfrm>
            <a:off x="7419856" y="5189696"/>
            <a:ext cx="6372820" cy="1568291"/>
          </a:xfrm>
          <a:prstGeom prst="roundRect">
            <a:avLst>
              <a:gd name="adj" fmla="val 6997"/>
            </a:avLst>
          </a:prstGeom>
          <a:solidFill>
            <a:srgbClr val="FAF5EB"/>
          </a:solidFill>
          <a:ln w="22860">
            <a:solidFill>
              <a:srgbClr val="D5CDBE"/>
            </a:solidFill>
            <a:prstDash val="solid"/>
          </a:ln>
        </p:spPr>
      </p:sp>
      <p:sp>
        <p:nvSpPr>
          <p:cNvPr id="17" name="Shape 15"/>
          <p:cNvSpPr/>
          <p:nvPr/>
        </p:nvSpPr>
        <p:spPr>
          <a:xfrm>
            <a:off x="7396996" y="5189696"/>
            <a:ext cx="91440" cy="1568291"/>
          </a:xfrm>
          <a:prstGeom prst="roundRect">
            <a:avLst>
              <a:gd name="adj" fmla="val 96208"/>
            </a:avLst>
          </a:prstGeom>
          <a:solidFill>
            <a:srgbClr val="3371A5"/>
          </a:solidFill>
        </p:spPr>
      </p:sp>
      <p:sp>
        <p:nvSpPr>
          <p:cNvPr id="18" name="Text 16"/>
          <p:cNvSpPr/>
          <p:nvPr/>
        </p:nvSpPr>
        <p:spPr>
          <a:xfrm>
            <a:off x="7720727" y="5421987"/>
            <a:ext cx="304442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Lack of Real-time Updates</a:t>
            </a:r>
            <a:endParaRPr lang="en-US" sz="1900" dirty="0"/>
          </a:p>
        </p:txBody>
      </p:sp>
      <p:sp>
        <p:nvSpPr>
          <p:cNvPr id="19" name="Text 17"/>
          <p:cNvSpPr/>
          <p:nvPr/>
        </p:nvSpPr>
        <p:spPr>
          <a:xfrm>
            <a:off x="7720727" y="5855613"/>
            <a:ext cx="5839658" cy="335042"/>
          </a:xfrm>
          <a:prstGeom prst="rect">
            <a:avLst/>
          </a:prstGeom>
          <a:noFill/>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Jobs remain listed even after being filled, wasting time.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410408"/>
            <a:ext cx="4928354" cy="615910"/>
          </a:xfrm>
          <a:prstGeom prst="rect">
            <a:avLst/>
          </a:prstGeom>
          <a:noFill/>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Project Objectives</a:t>
            </a:r>
            <a:endParaRPr lang="en-US" sz="3850" dirty="0"/>
          </a:p>
        </p:txBody>
      </p:sp>
      <p:sp>
        <p:nvSpPr>
          <p:cNvPr id="3" name="Text 1"/>
          <p:cNvSpPr/>
          <p:nvPr/>
        </p:nvSpPr>
        <p:spPr>
          <a:xfrm>
            <a:off x="837565" y="1173480"/>
            <a:ext cx="12954635" cy="2002155"/>
          </a:xfrm>
          <a:prstGeom prst="rect">
            <a:avLst/>
          </a:prstGeom>
          <a:noFill/>
        </p:spPr>
        <p:txBody>
          <a:bodyPr wrap="square" lIns="0" tIns="0" rIns="0" bIns="0" rtlCol="0" anchor="t"/>
          <a:lstStyle/>
          <a:p>
            <a:pPr marL="0" indent="0" algn="l">
              <a:lnSpc>
                <a:spcPts val="2600"/>
              </a:lnSpc>
              <a:buNone/>
            </a:pPr>
            <a:r>
              <a:rPr lang="en-US" altLang="en-US" sz="1600" dirty="0"/>
              <a:t>The primary objective of this project is to develop a modern and efficient job searching and hiring platform that simplifies the recruitment process for both job seekers and recruiters. The system aims to provide a user-friendly interface that ensures easy navigation and accessibility, even for non-technical users. It incorporates secure authentication mechanisms to protect user data and maintain privacy through reliable authorization techniques. The project also focuses on building a responsive and scalable backend capable of handling multiple concurrent requests efficiently, along with real-time data management to ensure instant updates of job postings and application statuses, thereby improving transparency and overall recruitment efficiency.</a:t>
            </a:r>
            <a:endParaRPr lang="en-US" altLang="en-US" sz="1600" dirty="0"/>
          </a:p>
        </p:txBody>
      </p:sp>
      <p:sp>
        <p:nvSpPr>
          <p:cNvPr id="4" name="Shape 2"/>
          <p:cNvSpPr/>
          <p:nvPr/>
        </p:nvSpPr>
        <p:spPr>
          <a:xfrm>
            <a:off x="837724" y="3671054"/>
            <a:ext cx="471249" cy="471249"/>
          </a:xfrm>
          <a:prstGeom prst="roundRect">
            <a:avLst>
              <a:gd name="adj" fmla="val 18668"/>
            </a:avLst>
          </a:prstGeom>
          <a:solidFill>
            <a:srgbClr val="FAF5EB"/>
          </a:solidFill>
          <a:ln w="7620">
            <a:solidFill>
              <a:srgbClr val="D5CDBE"/>
            </a:solidFill>
            <a:prstDash val="solid"/>
          </a:ln>
        </p:spPr>
      </p:sp>
      <p:sp>
        <p:nvSpPr>
          <p:cNvPr id="5" name="Text 3"/>
          <p:cNvSpPr/>
          <p:nvPr/>
        </p:nvSpPr>
        <p:spPr>
          <a:xfrm>
            <a:off x="925532" y="3721894"/>
            <a:ext cx="295632" cy="369570"/>
          </a:xfrm>
          <a:prstGeom prst="rect">
            <a:avLst/>
          </a:prstGeom>
          <a:noFill/>
        </p:spPr>
        <p:txBody>
          <a:bodyPr wrap="none" lIns="0" tIns="0" rIns="0" bIns="0" rtlCol="0" anchor="t"/>
          <a:lstStyle/>
          <a:p>
            <a:pPr marL="0" indent="0" algn="ctr">
              <a:lnSpc>
                <a:spcPts val="2300"/>
              </a:lnSpc>
              <a:buNone/>
            </a:pPr>
            <a:r>
              <a:rPr lang="en-US" sz="2300" dirty="0">
                <a:solidFill>
                  <a:srgbClr val="2B3541"/>
                </a:solidFill>
                <a:latin typeface="Funnel Display" pitchFamily="34" charset="0"/>
                <a:ea typeface="Funnel Display" pitchFamily="34" charset="-122"/>
                <a:cs typeface="Funnel Display" pitchFamily="34" charset="-120"/>
              </a:rPr>
              <a:t>1</a:t>
            </a:r>
            <a:endParaRPr lang="en-US" sz="2300" dirty="0"/>
          </a:p>
        </p:txBody>
      </p:sp>
      <p:sp>
        <p:nvSpPr>
          <p:cNvPr id="6" name="Text 4"/>
          <p:cNvSpPr/>
          <p:nvPr/>
        </p:nvSpPr>
        <p:spPr>
          <a:xfrm>
            <a:off x="1518404" y="3710226"/>
            <a:ext cx="3197781" cy="369689"/>
          </a:xfrm>
          <a:prstGeom prst="rect">
            <a:avLst/>
          </a:prstGeom>
          <a:noFill/>
        </p:spPr>
        <p:txBody>
          <a:bodyPr wrap="none" lIns="0" tIns="0" rIns="0" bIns="0" rtlCol="0" anchor="t"/>
          <a:lstStyle/>
          <a:p>
            <a:pPr marL="0" indent="0" algn="l">
              <a:lnSpc>
                <a:spcPts val="2900"/>
              </a:lnSpc>
              <a:buNone/>
            </a:pPr>
            <a:r>
              <a:rPr lang="en-US" sz="2300" dirty="0">
                <a:solidFill>
                  <a:srgbClr val="2B3541"/>
                </a:solidFill>
                <a:latin typeface="Funnel Display" pitchFamily="34" charset="0"/>
                <a:ea typeface="Funnel Display" pitchFamily="34" charset="-122"/>
                <a:cs typeface="Funnel Display" pitchFamily="34" charset="-120"/>
              </a:rPr>
              <a:t>User-Friendly Interface</a:t>
            </a:r>
            <a:endParaRPr lang="en-US" sz="2300" dirty="0"/>
          </a:p>
        </p:txBody>
      </p:sp>
      <p:sp>
        <p:nvSpPr>
          <p:cNvPr id="7" name="Text 5"/>
          <p:cNvSpPr/>
          <p:nvPr/>
        </p:nvSpPr>
        <p:spPr>
          <a:xfrm>
            <a:off x="1518404" y="4205526"/>
            <a:ext cx="5665827" cy="670084"/>
          </a:xfrm>
          <a:prstGeom prst="rect">
            <a:avLst/>
          </a:prstGeom>
          <a:noFill/>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Design with ReactJS and TailwindCSS for simplified navigation for both recruiters and applicants.</a:t>
            </a:r>
            <a:endParaRPr lang="en-US" sz="1600" dirty="0"/>
          </a:p>
        </p:txBody>
      </p:sp>
      <p:sp>
        <p:nvSpPr>
          <p:cNvPr id="8" name="Shape 6"/>
          <p:cNvSpPr/>
          <p:nvPr/>
        </p:nvSpPr>
        <p:spPr>
          <a:xfrm>
            <a:off x="7446050" y="3671054"/>
            <a:ext cx="471249" cy="471249"/>
          </a:xfrm>
          <a:prstGeom prst="roundRect">
            <a:avLst>
              <a:gd name="adj" fmla="val 18668"/>
            </a:avLst>
          </a:prstGeom>
          <a:solidFill>
            <a:srgbClr val="FAF5EB"/>
          </a:solidFill>
          <a:ln w="7620">
            <a:solidFill>
              <a:srgbClr val="D5CDBE"/>
            </a:solidFill>
            <a:prstDash val="solid"/>
          </a:ln>
        </p:spPr>
      </p:sp>
      <p:sp>
        <p:nvSpPr>
          <p:cNvPr id="9" name="Text 7"/>
          <p:cNvSpPr/>
          <p:nvPr/>
        </p:nvSpPr>
        <p:spPr>
          <a:xfrm>
            <a:off x="7533858" y="3721894"/>
            <a:ext cx="295632" cy="369570"/>
          </a:xfrm>
          <a:prstGeom prst="rect">
            <a:avLst/>
          </a:prstGeom>
          <a:noFill/>
        </p:spPr>
        <p:txBody>
          <a:bodyPr wrap="none" lIns="0" tIns="0" rIns="0" bIns="0" rtlCol="0" anchor="t"/>
          <a:lstStyle/>
          <a:p>
            <a:pPr marL="0" indent="0" algn="ctr">
              <a:lnSpc>
                <a:spcPts val="2300"/>
              </a:lnSpc>
              <a:buNone/>
            </a:pPr>
            <a:r>
              <a:rPr lang="en-US" sz="2300" dirty="0">
                <a:solidFill>
                  <a:srgbClr val="2B3541"/>
                </a:solidFill>
                <a:latin typeface="Funnel Display" pitchFamily="34" charset="0"/>
                <a:ea typeface="Funnel Display" pitchFamily="34" charset="-122"/>
                <a:cs typeface="Funnel Display" pitchFamily="34" charset="-120"/>
              </a:rPr>
              <a:t>2</a:t>
            </a:r>
            <a:endParaRPr lang="en-US" sz="2300" dirty="0"/>
          </a:p>
        </p:txBody>
      </p:sp>
      <p:sp>
        <p:nvSpPr>
          <p:cNvPr id="10" name="Text 8"/>
          <p:cNvSpPr/>
          <p:nvPr/>
        </p:nvSpPr>
        <p:spPr>
          <a:xfrm>
            <a:off x="8126730" y="3710226"/>
            <a:ext cx="3123367" cy="369689"/>
          </a:xfrm>
          <a:prstGeom prst="rect">
            <a:avLst/>
          </a:prstGeom>
          <a:noFill/>
        </p:spPr>
        <p:txBody>
          <a:bodyPr wrap="none" lIns="0" tIns="0" rIns="0" bIns="0" rtlCol="0" anchor="t"/>
          <a:lstStyle/>
          <a:p>
            <a:pPr marL="0" indent="0" algn="l">
              <a:lnSpc>
                <a:spcPts val="2900"/>
              </a:lnSpc>
              <a:buNone/>
            </a:pPr>
            <a:r>
              <a:rPr lang="en-US" sz="2300" dirty="0">
                <a:solidFill>
                  <a:srgbClr val="2B3541"/>
                </a:solidFill>
                <a:latin typeface="Funnel Display" pitchFamily="34" charset="0"/>
                <a:ea typeface="Funnel Display" pitchFamily="34" charset="-122"/>
                <a:cs typeface="Funnel Display" pitchFamily="34" charset="-120"/>
              </a:rPr>
              <a:t>Secure Authentication</a:t>
            </a:r>
            <a:endParaRPr lang="en-US" sz="2300" dirty="0"/>
          </a:p>
        </p:txBody>
      </p:sp>
      <p:sp>
        <p:nvSpPr>
          <p:cNvPr id="11" name="Text 9"/>
          <p:cNvSpPr/>
          <p:nvPr/>
        </p:nvSpPr>
        <p:spPr>
          <a:xfrm>
            <a:off x="8126730" y="4205526"/>
            <a:ext cx="5665946" cy="670084"/>
          </a:xfrm>
          <a:prstGeom prst="rect">
            <a:avLst/>
          </a:prstGeom>
          <a:noFill/>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Implement JWT (JSON Web Tokens) to protect user data and sessions.</a:t>
            </a:r>
            <a:endParaRPr lang="en-US" sz="1600" dirty="0"/>
          </a:p>
        </p:txBody>
      </p:sp>
      <p:sp>
        <p:nvSpPr>
          <p:cNvPr id="12" name="Shape 10"/>
          <p:cNvSpPr/>
          <p:nvPr/>
        </p:nvSpPr>
        <p:spPr>
          <a:xfrm>
            <a:off x="837724" y="5294471"/>
            <a:ext cx="471249" cy="471249"/>
          </a:xfrm>
          <a:prstGeom prst="roundRect">
            <a:avLst>
              <a:gd name="adj" fmla="val 18668"/>
            </a:avLst>
          </a:prstGeom>
          <a:solidFill>
            <a:srgbClr val="FAF5EB"/>
          </a:solidFill>
          <a:ln w="7620">
            <a:solidFill>
              <a:srgbClr val="D5CDBE"/>
            </a:solidFill>
            <a:prstDash val="solid"/>
          </a:ln>
        </p:spPr>
      </p:sp>
      <p:sp>
        <p:nvSpPr>
          <p:cNvPr id="13" name="Text 11"/>
          <p:cNvSpPr/>
          <p:nvPr/>
        </p:nvSpPr>
        <p:spPr>
          <a:xfrm>
            <a:off x="925532" y="5345311"/>
            <a:ext cx="295632" cy="369570"/>
          </a:xfrm>
          <a:prstGeom prst="rect">
            <a:avLst/>
          </a:prstGeom>
          <a:noFill/>
        </p:spPr>
        <p:txBody>
          <a:bodyPr wrap="none" lIns="0" tIns="0" rIns="0" bIns="0" rtlCol="0" anchor="t"/>
          <a:lstStyle/>
          <a:p>
            <a:pPr marL="0" indent="0" algn="ctr">
              <a:lnSpc>
                <a:spcPts val="2300"/>
              </a:lnSpc>
              <a:buNone/>
            </a:pPr>
            <a:r>
              <a:rPr lang="en-US" sz="2300" dirty="0">
                <a:solidFill>
                  <a:srgbClr val="2B3541"/>
                </a:solidFill>
                <a:latin typeface="Funnel Display" pitchFamily="34" charset="0"/>
                <a:ea typeface="Funnel Display" pitchFamily="34" charset="-122"/>
                <a:cs typeface="Funnel Display" pitchFamily="34" charset="-120"/>
              </a:rPr>
              <a:t>3</a:t>
            </a:r>
            <a:endParaRPr lang="en-US" sz="2300" dirty="0"/>
          </a:p>
        </p:txBody>
      </p:sp>
      <p:sp>
        <p:nvSpPr>
          <p:cNvPr id="14" name="Text 12"/>
          <p:cNvSpPr/>
          <p:nvPr/>
        </p:nvSpPr>
        <p:spPr>
          <a:xfrm>
            <a:off x="1518404" y="5333643"/>
            <a:ext cx="2957036" cy="369689"/>
          </a:xfrm>
          <a:prstGeom prst="rect">
            <a:avLst/>
          </a:prstGeom>
          <a:noFill/>
        </p:spPr>
        <p:txBody>
          <a:bodyPr wrap="none" lIns="0" tIns="0" rIns="0" bIns="0" rtlCol="0" anchor="t"/>
          <a:lstStyle/>
          <a:p>
            <a:pPr marL="0" indent="0" algn="l">
              <a:lnSpc>
                <a:spcPts val="2900"/>
              </a:lnSpc>
              <a:buNone/>
            </a:pPr>
            <a:r>
              <a:rPr lang="en-US" sz="2300" dirty="0">
                <a:solidFill>
                  <a:srgbClr val="2B3541"/>
                </a:solidFill>
                <a:latin typeface="Funnel Display" pitchFamily="34" charset="0"/>
                <a:ea typeface="Funnel Display" pitchFamily="34" charset="-122"/>
                <a:cs typeface="Funnel Display" pitchFamily="34" charset="-120"/>
              </a:rPr>
              <a:t>Responsive Backend</a:t>
            </a:r>
            <a:endParaRPr lang="en-US" sz="2300" dirty="0"/>
          </a:p>
        </p:txBody>
      </p:sp>
      <p:sp>
        <p:nvSpPr>
          <p:cNvPr id="15" name="Text 13"/>
          <p:cNvSpPr/>
          <p:nvPr/>
        </p:nvSpPr>
        <p:spPr>
          <a:xfrm>
            <a:off x="1518404" y="5828943"/>
            <a:ext cx="5665827" cy="670084"/>
          </a:xfrm>
          <a:prstGeom prst="rect">
            <a:avLst/>
          </a:prstGeom>
          <a:noFill/>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Create with NodeJS and Express to handle concurrent requests efficiently.</a:t>
            </a:r>
            <a:endParaRPr lang="en-US" sz="1600" dirty="0"/>
          </a:p>
        </p:txBody>
      </p:sp>
      <p:sp>
        <p:nvSpPr>
          <p:cNvPr id="16" name="Shape 14"/>
          <p:cNvSpPr/>
          <p:nvPr/>
        </p:nvSpPr>
        <p:spPr>
          <a:xfrm>
            <a:off x="7446050" y="5294471"/>
            <a:ext cx="471249" cy="471249"/>
          </a:xfrm>
          <a:prstGeom prst="roundRect">
            <a:avLst>
              <a:gd name="adj" fmla="val 18668"/>
            </a:avLst>
          </a:prstGeom>
          <a:solidFill>
            <a:srgbClr val="FAF5EB"/>
          </a:solidFill>
          <a:ln w="7620">
            <a:solidFill>
              <a:srgbClr val="D5CDBE"/>
            </a:solidFill>
            <a:prstDash val="solid"/>
          </a:ln>
        </p:spPr>
      </p:sp>
      <p:sp>
        <p:nvSpPr>
          <p:cNvPr id="17" name="Text 15"/>
          <p:cNvSpPr/>
          <p:nvPr/>
        </p:nvSpPr>
        <p:spPr>
          <a:xfrm>
            <a:off x="7533858" y="5345311"/>
            <a:ext cx="295632" cy="369570"/>
          </a:xfrm>
          <a:prstGeom prst="rect">
            <a:avLst/>
          </a:prstGeom>
          <a:noFill/>
        </p:spPr>
        <p:txBody>
          <a:bodyPr wrap="none" lIns="0" tIns="0" rIns="0" bIns="0" rtlCol="0" anchor="t"/>
          <a:lstStyle/>
          <a:p>
            <a:pPr marL="0" indent="0" algn="ctr">
              <a:lnSpc>
                <a:spcPts val="2300"/>
              </a:lnSpc>
              <a:buNone/>
            </a:pPr>
            <a:r>
              <a:rPr lang="en-US" sz="2300" dirty="0">
                <a:solidFill>
                  <a:srgbClr val="2B3541"/>
                </a:solidFill>
                <a:latin typeface="Funnel Display" pitchFamily="34" charset="0"/>
                <a:ea typeface="Funnel Display" pitchFamily="34" charset="-122"/>
                <a:cs typeface="Funnel Display" pitchFamily="34" charset="-120"/>
              </a:rPr>
              <a:t>4</a:t>
            </a:r>
            <a:endParaRPr lang="en-US" sz="2300" dirty="0"/>
          </a:p>
        </p:txBody>
      </p:sp>
      <p:sp>
        <p:nvSpPr>
          <p:cNvPr id="18" name="Text 16"/>
          <p:cNvSpPr/>
          <p:nvPr/>
        </p:nvSpPr>
        <p:spPr>
          <a:xfrm>
            <a:off x="8126730" y="5333643"/>
            <a:ext cx="4008358" cy="369689"/>
          </a:xfrm>
          <a:prstGeom prst="rect">
            <a:avLst/>
          </a:prstGeom>
          <a:noFill/>
        </p:spPr>
        <p:txBody>
          <a:bodyPr wrap="none" lIns="0" tIns="0" rIns="0" bIns="0" rtlCol="0" anchor="t"/>
          <a:lstStyle/>
          <a:p>
            <a:pPr marL="0" indent="0" algn="l">
              <a:lnSpc>
                <a:spcPts val="2900"/>
              </a:lnSpc>
              <a:buNone/>
            </a:pPr>
            <a:r>
              <a:rPr lang="en-US" sz="2300" dirty="0">
                <a:solidFill>
                  <a:srgbClr val="2B3541"/>
                </a:solidFill>
                <a:latin typeface="Funnel Display" pitchFamily="34" charset="0"/>
                <a:ea typeface="Funnel Display" pitchFamily="34" charset="-122"/>
                <a:cs typeface="Funnel Display" pitchFamily="34" charset="-120"/>
              </a:rPr>
              <a:t>Real-time Data Management</a:t>
            </a:r>
            <a:endParaRPr lang="en-US" sz="2300" dirty="0"/>
          </a:p>
        </p:txBody>
      </p:sp>
      <p:sp>
        <p:nvSpPr>
          <p:cNvPr id="19" name="Text 17"/>
          <p:cNvSpPr/>
          <p:nvPr/>
        </p:nvSpPr>
        <p:spPr>
          <a:xfrm>
            <a:off x="8126730" y="5828943"/>
            <a:ext cx="5665946" cy="670084"/>
          </a:xfrm>
          <a:prstGeom prst="rect">
            <a:avLst/>
          </a:prstGeom>
          <a:noFill/>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Utilize MongoDB for instant updates on job postings and application statuses.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565" y="382270"/>
            <a:ext cx="5239385" cy="462280"/>
          </a:xfrm>
          <a:prstGeom prst="rect">
            <a:avLst/>
          </a:prstGeom>
          <a:noFill/>
        </p:spPr>
        <p:txBody>
          <a:bodyPr wrap="none" lIns="0" tIns="0" rIns="0" bIns="0" rtlCol="0" anchor="t"/>
          <a:lstStyle/>
          <a:p>
            <a:pPr marL="0" indent="0" algn="l">
              <a:lnSpc>
                <a:spcPts val="3600"/>
              </a:lnSpc>
              <a:buNone/>
            </a:pPr>
            <a:r>
              <a:rPr lang="en-US" sz="2900" dirty="0">
                <a:solidFill>
                  <a:srgbClr val="051D3A"/>
                </a:solidFill>
                <a:latin typeface="Funnel Display" pitchFamily="34" charset="0"/>
                <a:ea typeface="Funnel Display" pitchFamily="34" charset="-122"/>
                <a:cs typeface="Funnel Display" pitchFamily="34" charset="-120"/>
              </a:rPr>
              <a:t>Project Development Timeline</a:t>
            </a:r>
            <a:endParaRPr lang="en-US" sz="2900" dirty="0"/>
          </a:p>
        </p:txBody>
      </p:sp>
      <p:sp>
        <p:nvSpPr>
          <p:cNvPr id="3" name="Text 1"/>
          <p:cNvSpPr/>
          <p:nvPr/>
        </p:nvSpPr>
        <p:spPr>
          <a:xfrm>
            <a:off x="845185" y="969645"/>
            <a:ext cx="12954635" cy="808355"/>
          </a:xfrm>
          <a:prstGeom prst="rect">
            <a:avLst/>
          </a:prstGeom>
          <a:noFill/>
        </p:spPr>
        <p:txBody>
          <a:bodyPr wrap="none" lIns="0" tIns="0" rIns="0" bIns="0" rtlCol="0" anchor="t"/>
          <a:lstStyle/>
          <a:p>
            <a:pPr marL="0" indent="0" algn="l">
              <a:lnSpc>
                <a:spcPts val="1700"/>
              </a:lnSpc>
              <a:buNone/>
            </a:pPr>
            <a:r>
              <a:rPr lang="en-US" altLang="en-US" sz="1200" dirty="0"/>
              <a:t>The project development followed a well-defined timeline starting with requirement analysis and planning, followed by system and UI design. This was succeeded by frontend and backend </a:t>
            </a:r>
            <a:endParaRPr lang="en-US" altLang="en-US" sz="1200" dirty="0"/>
          </a:p>
          <a:p>
            <a:pPr marL="0" indent="0" algn="l">
              <a:lnSpc>
                <a:spcPts val="1700"/>
              </a:lnSpc>
              <a:buNone/>
            </a:pPr>
            <a:r>
              <a:rPr lang="en-US" altLang="en-US" sz="1200" dirty="0"/>
              <a:t>implementation using the MERN stack, along with database integration. The project then underwent testing and debugging to ensure functionality, security, and performance, and concluded </a:t>
            </a:r>
            <a:endParaRPr lang="en-US" altLang="en-US" sz="1200" dirty="0"/>
          </a:p>
          <a:p>
            <a:pPr marL="0" indent="0" algn="l">
              <a:lnSpc>
                <a:spcPts val="1700"/>
              </a:lnSpc>
              <a:buNone/>
            </a:pPr>
            <a:r>
              <a:rPr lang="en-US" altLang="en-US" sz="1200" dirty="0"/>
              <a:t>with final deployment, documentation, and evaluation of future enhancements.</a:t>
            </a:r>
            <a:endParaRPr lang="en-US" altLang="en-US" sz="1200" dirty="0"/>
          </a:p>
        </p:txBody>
      </p:sp>
      <p:pic>
        <p:nvPicPr>
          <p:cNvPr id="4" name="Image 0" descr="preencoded.png"/>
          <p:cNvPicPr>
            <a:picLocks noChangeAspect="1"/>
          </p:cNvPicPr>
          <p:nvPr/>
        </p:nvPicPr>
        <p:blipFill>
          <a:blip r:embed="rId1"/>
          <a:stretch>
            <a:fillRect/>
          </a:stretch>
        </p:blipFill>
        <p:spPr>
          <a:xfrm>
            <a:off x="837724" y="1949093"/>
            <a:ext cx="5798820" cy="2552700"/>
          </a:xfrm>
          <a:prstGeom prst="rect">
            <a:avLst/>
          </a:prstGeom>
        </p:spPr>
      </p:pic>
      <p:sp>
        <p:nvSpPr>
          <p:cNvPr id="5" name="Shape 2"/>
          <p:cNvSpPr/>
          <p:nvPr/>
        </p:nvSpPr>
        <p:spPr>
          <a:xfrm>
            <a:off x="837724" y="5222319"/>
            <a:ext cx="12954952" cy="1520190"/>
          </a:xfrm>
          <a:prstGeom prst="roundRect">
            <a:avLst>
              <a:gd name="adj" fmla="val 4340"/>
            </a:avLst>
          </a:prstGeom>
          <a:noFill/>
          <a:ln w="7620">
            <a:solidFill>
              <a:srgbClr val="000000">
                <a:alpha val="8000"/>
              </a:srgbClr>
            </a:solidFill>
            <a:prstDash val="solid"/>
          </a:ln>
        </p:spPr>
      </p:sp>
      <p:sp>
        <p:nvSpPr>
          <p:cNvPr id="6" name="Shape 3"/>
          <p:cNvSpPr/>
          <p:nvPr/>
        </p:nvSpPr>
        <p:spPr>
          <a:xfrm>
            <a:off x="845344" y="5229939"/>
            <a:ext cx="12938403" cy="376238"/>
          </a:xfrm>
          <a:prstGeom prst="rect">
            <a:avLst/>
          </a:prstGeom>
          <a:solidFill>
            <a:srgbClr val="FFFFFF">
              <a:alpha val="4000"/>
            </a:srgbClr>
          </a:solidFill>
        </p:spPr>
      </p:sp>
      <p:sp>
        <p:nvSpPr>
          <p:cNvPr id="7" name="Text 4"/>
          <p:cNvSpPr/>
          <p:nvPr/>
        </p:nvSpPr>
        <p:spPr>
          <a:xfrm>
            <a:off x="1003816" y="5308163"/>
            <a:ext cx="399442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Requirements</a:t>
            </a:r>
            <a:endParaRPr lang="en-US" sz="1200" dirty="0"/>
          </a:p>
        </p:txBody>
      </p:sp>
      <p:sp>
        <p:nvSpPr>
          <p:cNvPr id="8" name="Text 5"/>
          <p:cNvSpPr/>
          <p:nvPr/>
        </p:nvSpPr>
        <p:spPr>
          <a:xfrm>
            <a:off x="5319951" y="5308163"/>
            <a:ext cx="399061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W1</a:t>
            </a:r>
            <a:endParaRPr lang="en-US" sz="1200" dirty="0"/>
          </a:p>
        </p:txBody>
      </p:sp>
      <p:sp>
        <p:nvSpPr>
          <p:cNvPr id="9" name="Text 6"/>
          <p:cNvSpPr/>
          <p:nvPr/>
        </p:nvSpPr>
        <p:spPr>
          <a:xfrm>
            <a:off x="9632275" y="5308163"/>
            <a:ext cx="399442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W3</a:t>
            </a:r>
            <a:endParaRPr lang="en-US" sz="1200" dirty="0"/>
          </a:p>
        </p:txBody>
      </p:sp>
      <p:sp>
        <p:nvSpPr>
          <p:cNvPr id="10" name="Shape 7"/>
          <p:cNvSpPr/>
          <p:nvPr/>
        </p:nvSpPr>
        <p:spPr>
          <a:xfrm>
            <a:off x="845344" y="5606177"/>
            <a:ext cx="12938403" cy="376238"/>
          </a:xfrm>
          <a:prstGeom prst="rect">
            <a:avLst/>
          </a:prstGeom>
          <a:solidFill>
            <a:srgbClr val="000000">
              <a:alpha val="4000"/>
            </a:srgbClr>
          </a:solidFill>
        </p:spPr>
      </p:sp>
      <p:sp>
        <p:nvSpPr>
          <p:cNvPr id="11" name="Text 8"/>
          <p:cNvSpPr/>
          <p:nvPr/>
        </p:nvSpPr>
        <p:spPr>
          <a:xfrm>
            <a:off x="1003816" y="5684401"/>
            <a:ext cx="399442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Design</a:t>
            </a:r>
            <a:endParaRPr lang="en-US" sz="1200" dirty="0"/>
          </a:p>
        </p:txBody>
      </p:sp>
      <p:sp>
        <p:nvSpPr>
          <p:cNvPr id="12" name="Text 9"/>
          <p:cNvSpPr/>
          <p:nvPr/>
        </p:nvSpPr>
        <p:spPr>
          <a:xfrm>
            <a:off x="5319951" y="5684401"/>
            <a:ext cx="399061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W3</a:t>
            </a:r>
            <a:endParaRPr lang="en-US" sz="1200" dirty="0"/>
          </a:p>
        </p:txBody>
      </p:sp>
      <p:sp>
        <p:nvSpPr>
          <p:cNvPr id="13" name="Text 10"/>
          <p:cNvSpPr/>
          <p:nvPr/>
        </p:nvSpPr>
        <p:spPr>
          <a:xfrm>
            <a:off x="9632275" y="5684401"/>
            <a:ext cx="399442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W5</a:t>
            </a:r>
            <a:endParaRPr lang="en-US" sz="1200" dirty="0"/>
          </a:p>
        </p:txBody>
      </p:sp>
      <p:sp>
        <p:nvSpPr>
          <p:cNvPr id="14" name="Shape 11"/>
          <p:cNvSpPr/>
          <p:nvPr/>
        </p:nvSpPr>
        <p:spPr>
          <a:xfrm>
            <a:off x="845344" y="5982414"/>
            <a:ext cx="12938403" cy="376238"/>
          </a:xfrm>
          <a:prstGeom prst="rect">
            <a:avLst/>
          </a:prstGeom>
          <a:solidFill>
            <a:srgbClr val="FFFFFF">
              <a:alpha val="4000"/>
            </a:srgbClr>
          </a:solidFill>
        </p:spPr>
      </p:sp>
      <p:sp>
        <p:nvSpPr>
          <p:cNvPr id="15" name="Text 12"/>
          <p:cNvSpPr/>
          <p:nvPr/>
        </p:nvSpPr>
        <p:spPr>
          <a:xfrm>
            <a:off x="1003816" y="6060638"/>
            <a:ext cx="399442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Implementation</a:t>
            </a:r>
            <a:endParaRPr lang="en-US" sz="1200" dirty="0"/>
          </a:p>
        </p:txBody>
      </p:sp>
      <p:sp>
        <p:nvSpPr>
          <p:cNvPr id="16" name="Text 13"/>
          <p:cNvSpPr/>
          <p:nvPr/>
        </p:nvSpPr>
        <p:spPr>
          <a:xfrm>
            <a:off x="5319951" y="6060638"/>
            <a:ext cx="399061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W5</a:t>
            </a:r>
            <a:endParaRPr lang="en-US" sz="1200" dirty="0"/>
          </a:p>
        </p:txBody>
      </p:sp>
      <p:sp>
        <p:nvSpPr>
          <p:cNvPr id="17" name="Text 14"/>
          <p:cNvSpPr/>
          <p:nvPr/>
        </p:nvSpPr>
        <p:spPr>
          <a:xfrm>
            <a:off x="9632275" y="6060638"/>
            <a:ext cx="399442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W11</a:t>
            </a:r>
            <a:endParaRPr lang="en-US" sz="1200" dirty="0"/>
          </a:p>
        </p:txBody>
      </p:sp>
      <p:sp>
        <p:nvSpPr>
          <p:cNvPr id="18" name="Shape 15"/>
          <p:cNvSpPr/>
          <p:nvPr/>
        </p:nvSpPr>
        <p:spPr>
          <a:xfrm>
            <a:off x="845344" y="6358652"/>
            <a:ext cx="12938403" cy="376238"/>
          </a:xfrm>
          <a:prstGeom prst="rect">
            <a:avLst/>
          </a:prstGeom>
          <a:solidFill>
            <a:srgbClr val="000000">
              <a:alpha val="4000"/>
            </a:srgbClr>
          </a:solidFill>
        </p:spPr>
      </p:sp>
      <p:sp>
        <p:nvSpPr>
          <p:cNvPr id="19" name="Text 16"/>
          <p:cNvSpPr/>
          <p:nvPr/>
        </p:nvSpPr>
        <p:spPr>
          <a:xfrm>
            <a:off x="1003816" y="6436876"/>
            <a:ext cx="399442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Testing</a:t>
            </a:r>
            <a:endParaRPr lang="en-US" sz="1200" dirty="0"/>
          </a:p>
        </p:txBody>
      </p:sp>
      <p:sp>
        <p:nvSpPr>
          <p:cNvPr id="20" name="Text 17"/>
          <p:cNvSpPr/>
          <p:nvPr/>
        </p:nvSpPr>
        <p:spPr>
          <a:xfrm>
            <a:off x="5319951" y="6436876"/>
            <a:ext cx="399061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W11</a:t>
            </a:r>
            <a:endParaRPr lang="en-US" sz="1200" dirty="0"/>
          </a:p>
        </p:txBody>
      </p:sp>
      <p:sp>
        <p:nvSpPr>
          <p:cNvPr id="21" name="Text 18"/>
          <p:cNvSpPr/>
          <p:nvPr/>
        </p:nvSpPr>
        <p:spPr>
          <a:xfrm>
            <a:off x="9632275" y="6436876"/>
            <a:ext cx="3994428"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W12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693063"/>
            <a:ext cx="4797028" cy="462082"/>
          </a:xfrm>
          <a:prstGeom prst="rect">
            <a:avLst/>
          </a:prstGeom>
          <a:noFill/>
        </p:spPr>
        <p:txBody>
          <a:bodyPr wrap="none" lIns="0" tIns="0" rIns="0" bIns="0" rtlCol="0" anchor="t"/>
          <a:lstStyle/>
          <a:p>
            <a:pPr marL="0" indent="0" algn="l">
              <a:lnSpc>
                <a:spcPts val="3600"/>
              </a:lnSpc>
              <a:buNone/>
            </a:pPr>
            <a:r>
              <a:rPr lang="en-US" sz="2900" dirty="0">
                <a:solidFill>
                  <a:srgbClr val="051D3A"/>
                </a:solidFill>
                <a:latin typeface="Funnel Display" pitchFamily="34" charset="0"/>
                <a:ea typeface="Funnel Display" pitchFamily="34" charset="-122"/>
                <a:cs typeface="Funnel Display" pitchFamily="34" charset="-120"/>
              </a:rPr>
              <a:t>Technology Stack Selection</a:t>
            </a:r>
            <a:endParaRPr lang="en-US" sz="2900" dirty="0"/>
          </a:p>
        </p:txBody>
      </p:sp>
      <p:sp>
        <p:nvSpPr>
          <p:cNvPr id="3" name="Text 1"/>
          <p:cNvSpPr/>
          <p:nvPr/>
        </p:nvSpPr>
        <p:spPr>
          <a:xfrm>
            <a:off x="837724" y="1390769"/>
            <a:ext cx="12954952"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After evaluating several architectural approaches, the MERN stack was selected for its unified JavaScript environment, high performance, and seamless data flow.</a:t>
            </a:r>
            <a:endParaRPr lang="en-US" sz="1200" dirty="0"/>
          </a:p>
        </p:txBody>
      </p:sp>
      <p:pic>
        <p:nvPicPr>
          <p:cNvPr id="4" name="Image 0" descr="preencoded.png"/>
          <p:cNvPicPr>
            <a:picLocks noChangeAspect="1"/>
          </p:cNvPicPr>
          <p:nvPr/>
        </p:nvPicPr>
        <p:blipFill>
          <a:blip r:embed="rId1"/>
          <a:stretch>
            <a:fillRect/>
          </a:stretch>
        </p:blipFill>
        <p:spPr>
          <a:xfrm>
            <a:off x="837724" y="1743075"/>
            <a:ext cx="9716214" cy="4969669"/>
          </a:xfrm>
          <a:prstGeom prst="rect">
            <a:avLst/>
          </a:prstGeom>
        </p:spPr>
      </p:pic>
      <p:sp>
        <p:nvSpPr>
          <p:cNvPr id="5" name="Shape 2"/>
          <p:cNvSpPr/>
          <p:nvPr/>
        </p:nvSpPr>
        <p:spPr>
          <a:xfrm>
            <a:off x="2908221" y="6712744"/>
            <a:ext cx="157043" cy="157043"/>
          </a:xfrm>
          <a:prstGeom prst="roundRect">
            <a:avLst>
              <a:gd name="adj" fmla="val 11645"/>
            </a:avLst>
          </a:prstGeom>
          <a:solidFill>
            <a:srgbClr val="12283A"/>
          </a:solidFill>
        </p:spPr>
      </p:sp>
      <p:sp>
        <p:nvSpPr>
          <p:cNvPr id="6" name="Text 3"/>
          <p:cNvSpPr/>
          <p:nvPr/>
        </p:nvSpPr>
        <p:spPr>
          <a:xfrm>
            <a:off x="3126224" y="6712744"/>
            <a:ext cx="848558" cy="157043"/>
          </a:xfrm>
          <a:prstGeom prst="rect">
            <a:avLst/>
          </a:prstGeom>
          <a:noFill/>
        </p:spPr>
        <p:txBody>
          <a:bodyPr wrap="none" lIns="0" tIns="0" rIns="0" bIns="0" rtlCol="0" anchor="t"/>
          <a:lstStyle/>
          <a:p>
            <a:pPr marL="0" indent="0" algn="l">
              <a:lnSpc>
                <a:spcPts val="1200"/>
              </a:lnSpc>
              <a:buNone/>
            </a:pPr>
            <a:r>
              <a:rPr lang="en-US" sz="1200" dirty="0">
                <a:solidFill>
                  <a:srgbClr val="2B3541"/>
                </a:solidFill>
                <a:latin typeface="Funnel Sans" pitchFamily="34" charset="0"/>
                <a:ea typeface="Funnel Sans" pitchFamily="34" charset="-122"/>
                <a:cs typeface="Funnel Sans" pitchFamily="34" charset="-120"/>
              </a:rPr>
              <a:t>LAMP Stack</a:t>
            </a:r>
            <a:endParaRPr lang="en-US" sz="1200" dirty="0"/>
          </a:p>
        </p:txBody>
      </p:sp>
      <p:sp>
        <p:nvSpPr>
          <p:cNvPr id="7" name="Shape 4"/>
          <p:cNvSpPr/>
          <p:nvPr/>
        </p:nvSpPr>
        <p:spPr>
          <a:xfrm>
            <a:off x="5163026" y="6712744"/>
            <a:ext cx="157043" cy="157043"/>
          </a:xfrm>
          <a:prstGeom prst="roundRect">
            <a:avLst>
              <a:gd name="adj" fmla="val 11645"/>
            </a:avLst>
          </a:prstGeom>
          <a:solidFill>
            <a:srgbClr val="214A6C"/>
          </a:solidFill>
        </p:spPr>
      </p:sp>
      <p:sp>
        <p:nvSpPr>
          <p:cNvPr id="8" name="Text 5"/>
          <p:cNvSpPr/>
          <p:nvPr/>
        </p:nvSpPr>
        <p:spPr>
          <a:xfrm>
            <a:off x="5381030" y="6712744"/>
            <a:ext cx="847368" cy="157043"/>
          </a:xfrm>
          <a:prstGeom prst="rect">
            <a:avLst/>
          </a:prstGeom>
          <a:noFill/>
        </p:spPr>
        <p:txBody>
          <a:bodyPr wrap="none" lIns="0" tIns="0" rIns="0" bIns="0" rtlCol="0" anchor="t"/>
          <a:lstStyle/>
          <a:p>
            <a:pPr marL="0" indent="0" algn="l">
              <a:lnSpc>
                <a:spcPts val="1200"/>
              </a:lnSpc>
              <a:buNone/>
            </a:pPr>
            <a:r>
              <a:rPr lang="en-US" sz="1200" dirty="0">
                <a:solidFill>
                  <a:srgbClr val="2B3541"/>
                </a:solidFill>
                <a:latin typeface="Funnel Sans" pitchFamily="34" charset="0"/>
                <a:ea typeface="Funnel Sans" pitchFamily="34" charset="-122"/>
                <a:cs typeface="Funnel Sans" pitchFamily="34" charset="-120"/>
              </a:rPr>
              <a:t>Django/SQL</a:t>
            </a:r>
            <a:endParaRPr lang="en-US" sz="1200" dirty="0"/>
          </a:p>
        </p:txBody>
      </p:sp>
      <p:sp>
        <p:nvSpPr>
          <p:cNvPr id="9" name="Shape 6"/>
          <p:cNvSpPr/>
          <p:nvPr/>
        </p:nvSpPr>
        <p:spPr>
          <a:xfrm>
            <a:off x="7416760" y="6712744"/>
            <a:ext cx="157043" cy="157043"/>
          </a:xfrm>
          <a:prstGeom prst="roundRect">
            <a:avLst>
              <a:gd name="adj" fmla="val 11645"/>
            </a:avLst>
          </a:prstGeom>
          <a:solidFill>
            <a:srgbClr val="316C9D"/>
          </a:solidFill>
        </p:spPr>
      </p:sp>
      <p:sp>
        <p:nvSpPr>
          <p:cNvPr id="10" name="Text 7"/>
          <p:cNvSpPr/>
          <p:nvPr/>
        </p:nvSpPr>
        <p:spPr>
          <a:xfrm>
            <a:off x="7634764" y="6712744"/>
            <a:ext cx="877372" cy="157043"/>
          </a:xfrm>
          <a:prstGeom prst="rect">
            <a:avLst/>
          </a:prstGeom>
          <a:noFill/>
        </p:spPr>
        <p:txBody>
          <a:bodyPr wrap="none" lIns="0" tIns="0" rIns="0" bIns="0" rtlCol="0" anchor="t"/>
          <a:lstStyle/>
          <a:p>
            <a:pPr marL="0" indent="0" algn="l">
              <a:lnSpc>
                <a:spcPts val="1200"/>
              </a:lnSpc>
              <a:buNone/>
            </a:pPr>
            <a:r>
              <a:rPr lang="en-US" sz="1200" dirty="0">
                <a:solidFill>
                  <a:srgbClr val="2B3541"/>
                </a:solidFill>
                <a:latin typeface="Funnel Sans" pitchFamily="34" charset="0"/>
                <a:ea typeface="Funnel Sans" pitchFamily="34" charset="-122"/>
                <a:cs typeface="Funnel Sans" pitchFamily="34" charset="-120"/>
              </a:rPr>
              <a:t>MERN Stack</a:t>
            </a:r>
            <a:endParaRPr lang="en-US" sz="1200" dirty="0"/>
          </a:p>
        </p:txBody>
      </p:sp>
      <p:sp>
        <p:nvSpPr>
          <p:cNvPr id="11" name="Text 8"/>
          <p:cNvSpPr/>
          <p:nvPr/>
        </p:nvSpPr>
        <p:spPr>
          <a:xfrm>
            <a:off x="837724" y="7316629"/>
            <a:ext cx="12954952" cy="219789"/>
          </a:xfrm>
          <a:prstGeom prst="rect">
            <a:avLst/>
          </a:prstGeom>
          <a:noFill/>
        </p:spPr>
        <p:txBody>
          <a:bodyPr wrap="none" lIns="0" tIns="0" rIns="0" bIns="0" rtlCol="0" anchor="t"/>
          <a:lstStyle/>
          <a:p>
            <a:pPr marL="0" indent="0" algn="l">
              <a:lnSpc>
                <a:spcPts val="1700"/>
              </a:lnSpc>
              <a:buNone/>
            </a:pPr>
            <a:r>
              <a:rPr lang="en-US" sz="1200" dirty="0">
                <a:solidFill>
                  <a:srgbClr val="2B3541"/>
                </a:solidFill>
                <a:latin typeface="Funnel Sans" pitchFamily="34" charset="0"/>
                <a:ea typeface="Funnel Sans" pitchFamily="34" charset="-122"/>
                <a:cs typeface="Funnel Sans" pitchFamily="34" charset="-120"/>
              </a:rPr>
              <a:t>The MERN stack (MongoDB, Express, React, Node) offers excellent real-time capabilities and client-side UI interactivity, making it ideal for a dynamic job portal.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2"/>
          <a:stretch>
            <a:fillRect/>
          </a:stretch>
        </p:blipFill>
        <p:spPr>
          <a:xfrm>
            <a:off x="261818" y="2617232"/>
            <a:ext cx="4962644" cy="2995017"/>
          </a:xfrm>
          <a:prstGeom prst="rect">
            <a:avLst/>
          </a:prstGeom>
        </p:spPr>
      </p:pic>
      <p:sp>
        <p:nvSpPr>
          <p:cNvPr id="4" name="Text 0"/>
          <p:cNvSpPr/>
          <p:nvPr/>
        </p:nvSpPr>
        <p:spPr>
          <a:xfrm>
            <a:off x="6324124" y="307856"/>
            <a:ext cx="4928354" cy="615910"/>
          </a:xfrm>
          <a:prstGeom prst="rect">
            <a:avLst/>
          </a:prstGeom>
          <a:noFill/>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System Architecture</a:t>
            </a:r>
            <a:endParaRPr lang="en-US" sz="3850" dirty="0"/>
          </a:p>
        </p:txBody>
      </p:sp>
      <p:sp>
        <p:nvSpPr>
          <p:cNvPr id="5" name="Text 1"/>
          <p:cNvSpPr/>
          <p:nvPr/>
        </p:nvSpPr>
        <p:spPr>
          <a:xfrm>
            <a:off x="6252845" y="928370"/>
            <a:ext cx="7468870" cy="2320290"/>
          </a:xfrm>
          <a:prstGeom prst="rect">
            <a:avLst/>
          </a:prstGeom>
          <a:noFill/>
        </p:spPr>
        <p:txBody>
          <a:bodyPr wrap="square" lIns="0" tIns="0" rIns="0" bIns="0" rtlCol="0" anchor="t"/>
          <a:lstStyle/>
          <a:p>
            <a:pPr marL="0" indent="0" algn="l">
              <a:lnSpc>
                <a:spcPts val="2600"/>
              </a:lnSpc>
              <a:buNone/>
            </a:pPr>
            <a:r>
              <a:rPr lang="en-US" altLang="en-US" sz="1600" dirty="0"/>
              <a:t>The system follows a three-tier architecture consisting of the presentation layer, application layer, and data layer. The presentation layer is built using React.js and Tailwind CSS to provide a responsive and user-friendly interface. The application layer uses Node.js and Express.js to handle business logic, authentication, and RESTful API communication. The data layer is managed by MongoDB, which stores user profiles, job listings, and application data, enabling real-time updates and ensuring secure, efficient data flow across the platform.</a:t>
            </a:r>
            <a:endParaRPr lang="en-US" altLang="en-US" sz="1600" dirty="0"/>
          </a:p>
        </p:txBody>
      </p:sp>
      <p:sp>
        <p:nvSpPr>
          <p:cNvPr id="6" name="Shape 2"/>
          <p:cNvSpPr/>
          <p:nvPr/>
        </p:nvSpPr>
        <p:spPr>
          <a:xfrm>
            <a:off x="6324124" y="3390067"/>
            <a:ext cx="3629501" cy="1872853"/>
          </a:xfrm>
          <a:prstGeom prst="roundRect">
            <a:avLst>
              <a:gd name="adj" fmla="val 4697"/>
            </a:avLst>
          </a:prstGeom>
          <a:solidFill>
            <a:srgbClr val="FAF5EB"/>
          </a:solidFill>
          <a:ln w="7620">
            <a:solidFill>
              <a:srgbClr val="D5CDBE"/>
            </a:solidFill>
            <a:prstDash val="solid"/>
          </a:ln>
        </p:spPr>
      </p:sp>
      <p:sp>
        <p:nvSpPr>
          <p:cNvPr id="7" name="Text 3"/>
          <p:cNvSpPr/>
          <p:nvPr/>
        </p:nvSpPr>
        <p:spPr>
          <a:xfrm>
            <a:off x="6541175" y="3607118"/>
            <a:ext cx="246411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Presentation Layer</a:t>
            </a:r>
            <a:endParaRPr lang="en-US" sz="1900" dirty="0"/>
          </a:p>
        </p:txBody>
      </p:sp>
      <p:sp>
        <p:nvSpPr>
          <p:cNvPr id="8" name="Text 4"/>
          <p:cNvSpPr/>
          <p:nvPr/>
        </p:nvSpPr>
        <p:spPr>
          <a:xfrm>
            <a:off x="6541175" y="4040743"/>
            <a:ext cx="3195399" cy="1005126"/>
          </a:xfrm>
          <a:prstGeom prst="rect">
            <a:avLst/>
          </a:prstGeom>
          <a:noFill/>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Built with ReactJS and TailwindCSS for a responsive user interface.</a:t>
            </a:r>
            <a:endParaRPr lang="en-US" sz="1600" dirty="0"/>
          </a:p>
        </p:txBody>
      </p:sp>
      <p:sp>
        <p:nvSpPr>
          <p:cNvPr id="9" name="Shape 5"/>
          <p:cNvSpPr/>
          <p:nvPr/>
        </p:nvSpPr>
        <p:spPr>
          <a:xfrm>
            <a:off x="10163056" y="3390067"/>
            <a:ext cx="3629620" cy="1872853"/>
          </a:xfrm>
          <a:prstGeom prst="roundRect">
            <a:avLst>
              <a:gd name="adj" fmla="val 4697"/>
            </a:avLst>
          </a:prstGeom>
          <a:solidFill>
            <a:srgbClr val="FAF5EB"/>
          </a:solidFill>
          <a:ln w="7620">
            <a:solidFill>
              <a:srgbClr val="D5CDBE"/>
            </a:solidFill>
            <a:prstDash val="solid"/>
          </a:ln>
        </p:spPr>
      </p:sp>
      <p:sp>
        <p:nvSpPr>
          <p:cNvPr id="10" name="Text 6"/>
          <p:cNvSpPr/>
          <p:nvPr/>
        </p:nvSpPr>
        <p:spPr>
          <a:xfrm>
            <a:off x="10380107" y="3607118"/>
            <a:ext cx="246411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Application Layer</a:t>
            </a:r>
            <a:endParaRPr lang="en-US" sz="1900" dirty="0"/>
          </a:p>
        </p:txBody>
      </p:sp>
      <p:sp>
        <p:nvSpPr>
          <p:cNvPr id="11" name="Text 7"/>
          <p:cNvSpPr/>
          <p:nvPr/>
        </p:nvSpPr>
        <p:spPr>
          <a:xfrm>
            <a:off x="10380107" y="4040743"/>
            <a:ext cx="3195518" cy="1005126"/>
          </a:xfrm>
          <a:prstGeom prst="rect">
            <a:avLst/>
          </a:prstGeom>
          <a:noFill/>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Built with NodeJS and Express, handling business logic and API requests.</a:t>
            </a:r>
            <a:endParaRPr lang="en-US" sz="1600" dirty="0"/>
          </a:p>
        </p:txBody>
      </p:sp>
      <p:sp>
        <p:nvSpPr>
          <p:cNvPr id="12" name="Shape 8"/>
          <p:cNvSpPr/>
          <p:nvPr/>
        </p:nvSpPr>
        <p:spPr>
          <a:xfrm>
            <a:off x="6324124" y="5472351"/>
            <a:ext cx="7468553" cy="1202769"/>
          </a:xfrm>
          <a:prstGeom prst="roundRect">
            <a:avLst>
              <a:gd name="adj" fmla="val 7314"/>
            </a:avLst>
          </a:prstGeom>
          <a:solidFill>
            <a:srgbClr val="FAF5EB"/>
          </a:solidFill>
          <a:ln w="7620">
            <a:solidFill>
              <a:srgbClr val="D5CDBE"/>
            </a:solidFill>
            <a:prstDash val="solid"/>
          </a:ln>
        </p:spPr>
      </p:sp>
      <p:sp>
        <p:nvSpPr>
          <p:cNvPr id="13" name="Text 9"/>
          <p:cNvSpPr/>
          <p:nvPr/>
        </p:nvSpPr>
        <p:spPr>
          <a:xfrm>
            <a:off x="6541175" y="5689402"/>
            <a:ext cx="246411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Data Layer</a:t>
            </a:r>
            <a:endParaRPr lang="en-US" sz="1900" dirty="0"/>
          </a:p>
        </p:txBody>
      </p:sp>
      <p:sp>
        <p:nvSpPr>
          <p:cNvPr id="14" name="Text 10"/>
          <p:cNvSpPr/>
          <p:nvPr/>
        </p:nvSpPr>
        <p:spPr>
          <a:xfrm>
            <a:off x="6541175" y="6123027"/>
            <a:ext cx="7034451" cy="335042"/>
          </a:xfrm>
          <a:prstGeom prst="rect">
            <a:avLst/>
          </a:prstGeom>
          <a:noFill/>
        </p:spPr>
        <p:txBody>
          <a:bodyPr wrap="non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Utilizes MongoDB for flexible, schema-less data storage.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9267" y="609838"/>
            <a:ext cx="5582007" cy="587693"/>
          </a:xfrm>
          <a:prstGeom prst="rect">
            <a:avLst/>
          </a:prstGeom>
          <a:noFill/>
        </p:spPr>
        <p:txBody>
          <a:bodyPr wrap="none" lIns="0" tIns="0" rIns="0" bIns="0" rtlCol="0" anchor="t"/>
          <a:lstStyle/>
          <a:p>
            <a:pPr marL="0" indent="0" algn="l">
              <a:lnSpc>
                <a:spcPts val="4600"/>
              </a:lnSpc>
              <a:buNone/>
            </a:pPr>
            <a:r>
              <a:rPr lang="en-US" sz="3700" dirty="0">
                <a:solidFill>
                  <a:srgbClr val="051D3A"/>
                </a:solidFill>
                <a:latin typeface="Funnel Display" pitchFamily="34" charset="0"/>
                <a:ea typeface="Funnel Display" pitchFamily="34" charset="-122"/>
                <a:cs typeface="Funnel Display" pitchFamily="34" charset="-120"/>
              </a:rPr>
              <a:t>Database Design &amp; UI/UX</a:t>
            </a:r>
            <a:endParaRPr lang="en-US" sz="3700" dirty="0"/>
          </a:p>
        </p:txBody>
      </p:sp>
      <p:sp>
        <p:nvSpPr>
          <p:cNvPr id="3" name="Text 1"/>
          <p:cNvSpPr/>
          <p:nvPr/>
        </p:nvSpPr>
        <p:spPr>
          <a:xfrm>
            <a:off x="799465" y="1237615"/>
            <a:ext cx="13032105" cy="903605"/>
          </a:xfrm>
          <a:prstGeom prst="rect">
            <a:avLst/>
          </a:prstGeom>
          <a:noFill/>
        </p:spPr>
        <p:txBody>
          <a:bodyPr wrap="none" lIns="0" tIns="0" rIns="0" bIns="0" rtlCol="0" anchor="t"/>
          <a:lstStyle/>
          <a:p>
            <a:pPr marL="0" indent="0" algn="l">
              <a:lnSpc>
                <a:spcPts val="2500"/>
              </a:lnSpc>
              <a:buNone/>
            </a:pPr>
            <a:r>
              <a:rPr lang="en-US" altLang="en-US" sz="1550" dirty="0"/>
              <a:t>The system uses MongoDB with key collections such as Users for applicant and recruiter profiles, Jobs for job details, and Applications to link users</a:t>
            </a:r>
            <a:endParaRPr lang="en-US" altLang="en-US" sz="1550" dirty="0"/>
          </a:p>
          <a:p>
            <a:pPr marL="0" indent="0" algn="l">
              <a:lnSpc>
                <a:spcPts val="2500"/>
              </a:lnSpc>
              <a:buNone/>
            </a:pPr>
            <a:r>
              <a:rPr lang="en-US" altLang="en-US" sz="1550" dirty="0"/>
              <a:t> with jobs and track application status. The Entity–Relationship Diagram represents the relationships between these entities. Tailwind CSS is used for</a:t>
            </a:r>
            <a:endParaRPr lang="en-US" altLang="en-US" sz="1550" dirty="0"/>
          </a:p>
          <a:p>
            <a:pPr marL="0" indent="0" algn="l">
              <a:lnSpc>
                <a:spcPts val="2500"/>
              </a:lnSpc>
              <a:buNone/>
            </a:pPr>
            <a:r>
              <a:rPr lang="en-US" altLang="en-US" sz="1550" dirty="0"/>
              <a:t> UI development, following a mobile-first approach to ensure a responsive and user-friendly experience across all devices.</a:t>
            </a:r>
            <a:endParaRPr lang="en-US" altLang="en-US" sz="1550" dirty="0"/>
          </a:p>
        </p:txBody>
      </p:sp>
      <p:sp>
        <p:nvSpPr>
          <p:cNvPr id="4" name="Text 2"/>
          <p:cNvSpPr/>
          <p:nvPr/>
        </p:nvSpPr>
        <p:spPr>
          <a:xfrm>
            <a:off x="799267" y="2341245"/>
            <a:ext cx="2351008" cy="293846"/>
          </a:xfrm>
          <a:prstGeom prst="rect">
            <a:avLst/>
          </a:prstGeom>
          <a:noFill/>
        </p:spPr>
        <p:txBody>
          <a:bodyPr wrap="none" lIns="0" tIns="0" rIns="0" bIns="0" rtlCol="0" anchor="t"/>
          <a:lstStyle/>
          <a:p>
            <a:pPr marL="0" indent="0" algn="l">
              <a:lnSpc>
                <a:spcPts val="2300"/>
              </a:lnSpc>
              <a:buNone/>
            </a:pPr>
            <a:r>
              <a:rPr lang="en-US" sz="1850" dirty="0">
                <a:solidFill>
                  <a:srgbClr val="051D3A"/>
                </a:solidFill>
                <a:latin typeface="Funnel Display" pitchFamily="34" charset="0"/>
                <a:ea typeface="Funnel Display" pitchFamily="34" charset="-122"/>
                <a:cs typeface="Funnel Display" pitchFamily="34" charset="-120"/>
              </a:rPr>
              <a:t>Key Collections</a:t>
            </a:r>
            <a:endParaRPr lang="en-US" sz="1850" dirty="0"/>
          </a:p>
        </p:txBody>
      </p:sp>
      <p:sp>
        <p:nvSpPr>
          <p:cNvPr id="5" name="Text 3"/>
          <p:cNvSpPr/>
          <p:nvPr/>
        </p:nvSpPr>
        <p:spPr>
          <a:xfrm>
            <a:off x="799267" y="2834878"/>
            <a:ext cx="6272213" cy="319564"/>
          </a:xfrm>
          <a:prstGeom prst="rect">
            <a:avLst/>
          </a:prstGeom>
          <a:noFill/>
        </p:spPr>
        <p:txBody>
          <a:bodyPr wrap="none" lIns="0" tIns="0" rIns="0" bIns="0" rtlCol="0" anchor="t"/>
          <a:lstStyle/>
          <a:p>
            <a:pPr marL="0" indent="0" algn="l">
              <a:lnSpc>
                <a:spcPts val="2500"/>
              </a:lnSpc>
              <a:buSzPct val="100000"/>
              <a:buNone/>
            </a:pPr>
            <a:r>
              <a:rPr lang="en-US" sz="1550" b="1" dirty="0">
                <a:solidFill>
                  <a:srgbClr val="2B3541"/>
                </a:solidFill>
                <a:latin typeface="Funnel Sans" pitchFamily="34" charset="0"/>
                <a:ea typeface="Funnel Sans" pitchFamily="34" charset="-122"/>
                <a:cs typeface="Funnel Sans" pitchFamily="34" charset="-120"/>
              </a:rPr>
              <a:t>Users:</a:t>
            </a:r>
            <a:r>
              <a:rPr lang="en-US" sz="1550" dirty="0">
                <a:solidFill>
                  <a:srgbClr val="2B3541"/>
                </a:solidFill>
                <a:latin typeface="Funnel Sans" pitchFamily="34" charset="0"/>
                <a:ea typeface="Funnel Sans" pitchFamily="34" charset="-122"/>
                <a:cs typeface="Funnel Sans" pitchFamily="34" charset="-120"/>
              </a:rPr>
              <a:t> Stores applicant and recruiter profiles.</a:t>
            </a:r>
            <a:endParaRPr lang="en-US" sz="1550" dirty="0"/>
          </a:p>
        </p:txBody>
      </p:sp>
      <p:sp>
        <p:nvSpPr>
          <p:cNvPr id="6" name="Text 4"/>
          <p:cNvSpPr/>
          <p:nvPr/>
        </p:nvSpPr>
        <p:spPr>
          <a:xfrm>
            <a:off x="799267" y="3224332"/>
            <a:ext cx="6272213" cy="319564"/>
          </a:xfrm>
          <a:prstGeom prst="rect">
            <a:avLst/>
          </a:prstGeom>
          <a:noFill/>
        </p:spPr>
        <p:txBody>
          <a:bodyPr wrap="none" lIns="0" tIns="0" rIns="0" bIns="0" rtlCol="0" anchor="t"/>
          <a:lstStyle/>
          <a:p>
            <a:pPr marL="0" indent="0" algn="l">
              <a:lnSpc>
                <a:spcPts val="2500"/>
              </a:lnSpc>
              <a:buSzPct val="100000"/>
              <a:buNone/>
            </a:pPr>
            <a:r>
              <a:rPr lang="en-US" sz="1550" b="1" dirty="0">
                <a:solidFill>
                  <a:srgbClr val="2B3541"/>
                </a:solidFill>
                <a:latin typeface="Funnel Sans" pitchFamily="34" charset="0"/>
                <a:ea typeface="Funnel Sans" pitchFamily="34" charset="-122"/>
                <a:cs typeface="Funnel Sans" pitchFamily="34" charset="-120"/>
              </a:rPr>
              <a:t>Jobs:</a:t>
            </a:r>
            <a:r>
              <a:rPr lang="en-US" sz="1550" dirty="0">
                <a:solidFill>
                  <a:srgbClr val="2B3541"/>
                </a:solidFill>
                <a:latin typeface="Funnel Sans" pitchFamily="34" charset="0"/>
                <a:ea typeface="Funnel Sans" pitchFamily="34" charset="-122"/>
                <a:cs typeface="Funnel Sans" pitchFamily="34" charset="-120"/>
              </a:rPr>
              <a:t> Contains job details like title, description, and requirements.</a:t>
            </a:r>
            <a:endParaRPr lang="en-US" sz="1550" dirty="0"/>
          </a:p>
        </p:txBody>
      </p:sp>
      <p:sp>
        <p:nvSpPr>
          <p:cNvPr id="7" name="Text 5"/>
          <p:cNvSpPr/>
          <p:nvPr/>
        </p:nvSpPr>
        <p:spPr>
          <a:xfrm>
            <a:off x="799267" y="3613785"/>
            <a:ext cx="6272213" cy="319564"/>
          </a:xfrm>
          <a:prstGeom prst="rect">
            <a:avLst/>
          </a:prstGeom>
          <a:noFill/>
        </p:spPr>
        <p:txBody>
          <a:bodyPr wrap="none" lIns="0" tIns="0" rIns="0" bIns="0" rtlCol="0" anchor="t"/>
          <a:lstStyle/>
          <a:p>
            <a:pPr marL="0" indent="0" algn="l">
              <a:lnSpc>
                <a:spcPts val="2500"/>
              </a:lnSpc>
              <a:buSzPct val="100000"/>
              <a:buNone/>
            </a:pPr>
            <a:r>
              <a:rPr lang="en-US" sz="1550" b="1" dirty="0">
                <a:solidFill>
                  <a:srgbClr val="2B3541"/>
                </a:solidFill>
                <a:latin typeface="Funnel Sans" pitchFamily="34" charset="0"/>
                <a:ea typeface="Funnel Sans" pitchFamily="34" charset="-122"/>
                <a:cs typeface="Funnel Sans" pitchFamily="34" charset="-120"/>
              </a:rPr>
              <a:t>Applications:</a:t>
            </a:r>
            <a:r>
              <a:rPr lang="en-US" sz="1550" dirty="0">
                <a:solidFill>
                  <a:srgbClr val="2B3541"/>
                </a:solidFill>
                <a:latin typeface="Funnel Sans" pitchFamily="34" charset="0"/>
                <a:ea typeface="Funnel Sans" pitchFamily="34" charset="-122"/>
                <a:cs typeface="Funnel Sans" pitchFamily="34" charset="-120"/>
              </a:rPr>
              <a:t> Links users to jobs with application status.</a:t>
            </a:r>
            <a:endParaRPr lang="en-US" sz="1550" dirty="0"/>
          </a:p>
        </p:txBody>
      </p:sp>
      <p:sp>
        <p:nvSpPr>
          <p:cNvPr id="8" name="Text 6"/>
          <p:cNvSpPr/>
          <p:nvPr/>
        </p:nvSpPr>
        <p:spPr>
          <a:xfrm>
            <a:off x="799267" y="4113133"/>
            <a:ext cx="6272213" cy="639127"/>
          </a:xfrm>
          <a:prstGeom prst="rect">
            <a:avLst/>
          </a:prstGeom>
          <a:noFill/>
        </p:spPr>
        <p:txBody>
          <a:bodyPr wrap="square" lIns="0" tIns="0" rIns="0" bIns="0" rtlCol="0" anchor="t"/>
          <a:lstStyle/>
          <a:p>
            <a:pPr marL="0" indent="0" algn="l">
              <a:lnSpc>
                <a:spcPts val="2500"/>
              </a:lnSpc>
              <a:buNone/>
            </a:pPr>
            <a:r>
              <a:rPr lang="en-US" sz="1550" dirty="0">
                <a:solidFill>
                  <a:srgbClr val="2B3541"/>
                </a:solidFill>
                <a:latin typeface="Funnel Sans" pitchFamily="34" charset="0"/>
                <a:ea typeface="Funnel Sans" pitchFamily="34" charset="-122"/>
                <a:cs typeface="Funnel Sans" pitchFamily="34" charset="-120"/>
              </a:rPr>
              <a:t>The Entity-Relationship Diagram illustrates the relationships between these core entities.</a:t>
            </a:r>
            <a:endParaRPr lang="en-US" sz="1550" dirty="0"/>
          </a:p>
        </p:txBody>
      </p:sp>
      <p:sp>
        <p:nvSpPr>
          <p:cNvPr id="10" name="Text 7"/>
          <p:cNvSpPr/>
          <p:nvPr/>
        </p:nvSpPr>
        <p:spPr>
          <a:xfrm>
            <a:off x="7566541" y="6307217"/>
            <a:ext cx="2351008" cy="293846"/>
          </a:xfrm>
          <a:prstGeom prst="rect">
            <a:avLst/>
          </a:prstGeom>
          <a:noFill/>
        </p:spPr>
        <p:txBody>
          <a:bodyPr wrap="none" lIns="0" tIns="0" rIns="0" bIns="0" rtlCol="0" anchor="t"/>
          <a:lstStyle/>
          <a:p>
            <a:pPr marL="0" indent="0" algn="l">
              <a:lnSpc>
                <a:spcPts val="2300"/>
              </a:lnSpc>
              <a:buNone/>
            </a:pPr>
            <a:r>
              <a:rPr lang="en-US" sz="1850" dirty="0">
                <a:solidFill>
                  <a:srgbClr val="051D3A"/>
                </a:solidFill>
                <a:latin typeface="Funnel Display" pitchFamily="34" charset="0"/>
                <a:ea typeface="Funnel Display" pitchFamily="34" charset="-122"/>
                <a:cs typeface="Funnel Display" pitchFamily="34" charset="-120"/>
              </a:rPr>
              <a:t>UI/UX Design</a:t>
            </a:r>
            <a:endParaRPr lang="en-US" sz="1850" dirty="0"/>
          </a:p>
        </p:txBody>
      </p:sp>
      <p:sp>
        <p:nvSpPr>
          <p:cNvPr id="11" name="Text 8"/>
          <p:cNvSpPr/>
          <p:nvPr/>
        </p:nvSpPr>
        <p:spPr>
          <a:xfrm>
            <a:off x="7566541" y="6800850"/>
            <a:ext cx="6272213" cy="639127"/>
          </a:xfrm>
          <a:prstGeom prst="rect">
            <a:avLst/>
          </a:prstGeom>
          <a:noFill/>
        </p:spPr>
        <p:txBody>
          <a:bodyPr wrap="square" lIns="0" tIns="0" rIns="0" bIns="0" rtlCol="0" anchor="t"/>
          <a:lstStyle/>
          <a:p>
            <a:pPr marL="0" indent="0" algn="l">
              <a:lnSpc>
                <a:spcPts val="2500"/>
              </a:lnSpc>
              <a:buNone/>
            </a:pPr>
            <a:r>
              <a:rPr lang="en-US" sz="1550" dirty="0">
                <a:solidFill>
                  <a:srgbClr val="2B3541"/>
                </a:solidFill>
                <a:latin typeface="Funnel Sans" pitchFamily="34" charset="0"/>
                <a:ea typeface="Funnel Sans" pitchFamily="34" charset="-122"/>
                <a:cs typeface="Funnel Sans" pitchFamily="34" charset="-120"/>
              </a:rPr>
              <a:t>TailwindCSS enables rapid UI development with a focus on "Mobile First" responsiveness, ensuring optimal experience across all devices.</a:t>
            </a:r>
            <a:endParaRPr lang="en-US" sz="1550" dirty="0"/>
          </a:p>
        </p:txBody>
      </p:sp>
      <p:pic>
        <p:nvPicPr>
          <p:cNvPr id="13" name="Picture 12"/>
          <p:cNvPicPr>
            <a:picLocks noChangeAspect="1"/>
          </p:cNvPicPr>
          <p:nvPr/>
        </p:nvPicPr>
        <p:blipFill>
          <a:blip r:embed="rId1"/>
          <a:stretch>
            <a:fillRect/>
          </a:stretch>
        </p:blipFill>
        <p:spPr>
          <a:xfrm>
            <a:off x="7449014" y="2486722"/>
            <a:ext cx="6746487" cy="36016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37724" y="1095613"/>
            <a:ext cx="6761202" cy="615910"/>
          </a:xfrm>
          <a:prstGeom prst="rect">
            <a:avLst/>
          </a:prstGeom>
          <a:noFill/>
        </p:spPr>
        <p:txBody>
          <a:bodyPr wrap="none" lIns="0" tIns="0" rIns="0" bIns="0" rtlCol="0" anchor="t"/>
          <a:lstStyle/>
          <a:p>
            <a:pPr marL="0" indent="0" algn="l">
              <a:lnSpc>
                <a:spcPts val="4850"/>
              </a:lnSpc>
              <a:buNone/>
            </a:pPr>
            <a:r>
              <a:rPr lang="en-US" sz="3850" dirty="0">
                <a:solidFill>
                  <a:srgbClr val="051D3A"/>
                </a:solidFill>
                <a:latin typeface="Funnel Display" pitchFamily="34" charset="0"/>
                <a:ea typeface="Funnel Display" pitchFamily="34" charset="-122"/>
                <a:cs typeface="Funnel Display" pitchFamily="34" charset="-120"/>
              </a:rPr>
              <a:t>Software Features &amp; Working</a:t>
            </a:r>
            <a:endParaRPr lang="en-US" sz="3850" dirty="0"/>
          </a:p>
        </p:txBody>
      </p:sp>
      <p:sp>
        <p:nvSpPr>
          <p:cNvPr id="3" name="Text 1"/>
          <p:cNvSpPr/>
          <p:nvPr/>
        </p:nvSpPr>
        <p:spPr>
          <a:xfrm>
            <a:off x="861695" y="2130425"/>
            <a:ext cx="12955270" cy="988060"/>
          </a:xfrm>
          <a:prstGeom prst="rect">
            <a:avLst/>
          </a:prstGeom>
          <a:noFill/>
        </p:spPr>
        <p:txBody>
          <a:bodyPr wrap="none" lIns="0" tIns="0" rIns="0" bIns="0" rtlCol="0" anchor="t"/>
          <a:lstStyle/>
          <a:p>
            <a:pPr marL="0" indent="0" algn="l">
              <a:lnSpc>
                <a:spcPts val="2600"/>
              </a:lnSpc>
              <a:buNone/>
            </a:pPr>
            <a:r>
              <a:rPr lang="en-US" altLang="en-US" sz="1600" dirty="0"/>
              <a:t>The platform provides secure authentication for users, advanced job search and filtering for candidates, and job posting features for recruiters.</a:t>
            </a:r>
            <a:endParaRPr lang="en-US" altLang="en-US" sz="1600" dirty="0"/>
          </a:p>
          <a:p>
            <a:pPr marL="0" indent="0" algn="l">
              <a:lnSpc>
                <a:spcPts val="2600"/>
              </a:lnSpc>
              <a:buNone/>
            </a:pPr>
            <a:r>
              <a:rPr lang="en-US" altLang="en-US" sz="1600" dirty="0"/>
              <a:t>An integrated application dashboard allows job seekers to track application status in real time while enabling recruiters to efficiently manage and</a:t>
            </a:r>
            <a:endParaRPr lang="en-US" altLang="en-US" sz="1600" dirty="0"/>
          </a:p>
          <a:p>
            <a:pPr marL="0" indent="0" algn="l">
              <a:lnSpc>
                <a:spcPts val="2600"/>
              </a:lnSpc>
              <a:buNone/>
            </a:pPr>
            <a:r>
              <a:rPr lang="en-US" altLang="en-US" sz="1600" dirty="0"/>
              <a:t>review applications.</a:t>
            </a:r>
            <a:endParaRPr lang="en-US" altLang="en-US" sz="1600" dirty="0"/>
          </a:p>
        </p:txBody>
      </p:sp>
      <p:pic>
        <p:nvPicPr>
          <p:cNvPr id="4"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7724" y="2701052"/>
            <a:ext cx="523637" cy="523637"/>
          </a:xfrm>
          <a:prstGeom prst="rect">
            <a:avLst/>
          </a:prstGeom>
        </p:spPr>
      </p:pic>
      <p:sp>
        <p:nvSpPr>
          <p:cNvPr id="5" name="Text 2"/>
          <p:cNvSpPr/>
          <p:nvPr/>
        </p:nvSpPr>
        <p:spPr>
          <a:xfrm>
            <a:off x="837724" y="3486507"/>
            <a:ext cx="246411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Authentication</a:t>
            </a:r>
            <a:endParaRPr lang="en-US" sz="1900" dirty="0"/>
          </a:p>
        </p:txBody>
      </p:sp>
      <p:sp>
        <p:nvSpPr>
          <p:cNvPr id="6" name="Text 3"/>
          <p:cNvSpPr/>
          <p:nvPr/>
        </p:nvSpPr>
        <p:spPr>
          <a:xfrm>
            <a:off x="837565" y="3919855"/>
            <a:ext cx="6346825" cy="988060"/>
          </a:xfrm>
          <a:prstGeom prst="rect">
            <a:avLst/>
          </a:prstGeom>
          <a:noFill/>
        </p:spPr>
        <p:txBody>
          <a:bodyPr wrap="none" lIns="0" tIns="0" rIns="0" bIns="0" rtlCol="0" anchor="t"/>
          <a:lstStyle/>
          <a:p>
            <a:pPr marL="0" indent="0" algn="l">
              <a:lnSpc>
                <a:spcPts val="2600"/>
              </a:lnSpc>
              <a:buNone/>
            </a:pPr>
            <a:r>
              <a:rPr lang="en-US" altLang="en-US" sz="1600" dirty="0"/>
              <a:t>Provides secure user registration and login using encrypted passwords</a:t>
            </a:r>
            <a:endParaRPr lang="en-US" altLang="en-US" sz="1600" dirty="0"/>
          </a:p>
          <a:p>
            <a:pPr marL="0" indent="0" algn="l">
              <a:lnSpc>
                <a:spcPts val="2600"/>
              </a:lnSpc>
              <a:buNone/>
            </a:pPr>
            <a:r>
              <a:rPr lang="en-US" altLang="en-US" sz="1600" dirty="0"/>
              <a:t> and token-based authentication, ensuring data privacy and role-based</a:t>
            </a:r>
            <a:endParaRPr lang="en-US" altLang="en-US" sz="1600" dirty="0"/>
          </a:p>
          <a:p>
            <a:pPr marL="0" indent="0" algn="l">
              <a:lnSpc>
                <a:spcPts val="2600"/>
              </a:lnSpc>
              <a:buNone/>
            </a:pPr>
            <a:r>
              <a:rPr lang="en-US" altLang="en-US" sz="1600" dirty="0"/>
              <a:t> access for job seekers and recruiters.</a:t>
            </a:r>
            <a:endParaRPr lang="en-US" altLang="en-US" sz="16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46050" y="2701052"/>
            <a:ext cx="523637" cy="523637"/>
          </a:xfrm>
          <a:prstGeom prst="rect">
            <a:avLst/>
          </a:prstGeom>
        </p:spPr>
      </p:pic>
      <p:sp>
        <p:nvSpPr>
          <p:cNvPr id="8" name="Text 4"/>
          <p:cNvSpPr/>
          <p:nvPr/>
        </p:nvSpPr>
        <p:spPr>
          <a:xfrm>
            <a:off x="7446050" y="3486507"/>
            <a:ext cx="246411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Job Search &amp; Filter</a:t>
            </a:r>
            <a:endParaRPr lang="en-US" sz="1900" dirty="0"/>
          </a:p>
        </p:txBody>
      </p:sp>
      <p:sp>
        <p:nvSpPr>
          <p:cNvPr id="9" name="Text 5"/>
          <p:cNvSpPr/>
          <p:nvPr/>
        </p:nvSpPr>
        <p:spPr>
          <a:xfrm>
            <a:off x="7446010" y="3919855"/>
            <a:ext cx="7015480" cy="706120"/>
          </a:xfrm>
          <a:prstGeom prst="rect">
            <a:avLst/>
          </a:prstGeom>
          <a:noFill/>
        </p:spPr>
        <p:txBody>
          <a:bodyPr wrap="none" lIns="0" tIns="0" rIns="0" bIns="0" rtlCol="0" anchor="t"/>
          <a:lstStyle/>
          <a:p>
            <a:pPr marL="0" indent="0" algn="l">
              <a:lnSpc>
                <a:spcPts val="2600"/>
              </a:lnSpc>
              <a:buNone/>
            </a:pPr>
            <a:r>
              <a:rPr lang="en-US" altLang="en-US" sz="1600" dirty="0"/>
              <a:t>Allows candidates to search jobs using keywords, location, and job type</a:t>
            </a:r>
            <a:br>
              <a:rPr lang="en-US" altLang="en-US" sz="1600" dirty="0"/>
            </a:br>
            <a:r>
              <a:rPr lang="en-US" altLang="en-US" sz="1600" dirty="0"/>
              <a:t>filters, helping them quickly find roles that match their skills and preferences.</a:t>
            </a:r>
            <a:endParaRPr lang="en-US" altLang="en-US" sz="1600" dirty="0"/>
          </a:p>
        </p:txBody>
      </p:sp>
      <p:pic>
        <p:nvPicPr>
          <p:cNvPr id="10"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7724" y="4674037"/>
            <a:ext cx="523637" cy="523637"/>
          </a:xfrm>
          <a:prstGeom prst="rect">
            <a:avLst/>
          </a:prstGeom>
        </p:spPr>
      </p:pic>
      <p:sp>
        <p:nvSpPr>
          <p:cNvPr id="11" name="Text 6"/>
          <p:cNvSpPr/>
          <p:nvPr/>
        </p:nvSpPr>
        <p:spPr>
          <a:xfrm>
            <a:off x="837724" y="5459492"/>
            <a:ext cx="2464118"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Job Posting</a:t>
            </a:r>
            <a:endParaRPr lang="en-US" sz="1900" dirty="0"/>
          </a:p>
        </p:txBody>
      </p:sp>
      <p:sp>
        <p:nvSpPr>
          <p:cNvPr id="12" name="Text 7"/>
          <p:cNvSpPr/>
          <p:nvPr/>
        </p:nvSpPr>
        <p:spPr>
          <a:xfrm>
            <a:off x="837565" y="5893435"/>
            <a:ext cx="6346825" cy="670560"/>
          </a:xfrm>
          <a:prstGeom prst="rect">
            <a:avLst/>
          </a:prstGeom>
          <a:noFill/>
        </p:spPr>
        <p:txBody>
          <a:bodyPr wrap="none" lIns="0" tIns="0" rIns="0" bIns="0" rtlCol="0" anchor="t"/>
          <a:lstStyle/>
          <a:p>
            <a:pPr marL="0" indent="0" algn="l">
              <a:lnSpc>
                <a:spcPts val="2600"/>
              </a:lnSpc>
              <a:buNone/>
            </a:pPr>
            <a:r>
              <a:rPr lang="en-US" altLang="en-US" sz="1600" dirty="0"/>
              <a:t>Enables authorized recruiters to create, update, and delete job listings,</a:t>
            </a:r>
            <a:br>
              <a:rPr lang="en-US" altLang="en-US" sz="1600" dirty="0"/>
            </a:br>
            <a:r>
              <a:rPr lang="en-US" altLang="en-US" sz="1600" dirty="0"/>
              <a:t>ensuring only verified employers can post opportunities.</a:t>
            </a:r>
            <a:endParaRPr lang="en-US" altLang="en-US" sz="1600" dirty="0"/>
          </a:p>
        </p:txBody>
      </p:sp>
      <p:pic>
        <p:nvPicPr>
          <p:cNvPr id="13"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46050" y="4674037"/>
            <a:ext cx="523637" cy="523637"/>
          </a:xfrm>
          <a:prstGeom prst="rect">
            <a:avLst/>
          </a:prstGeom>
        </p:spPr>
      </p:pic>
      <p:sp>
        <p:nvSpPr>
          <p:cNvPr id="14" name="Text 8"/>
          <p:cNvSpPr/>
          <p:nvPr/>
        </p:nvSpPr>
        <p:spPr>
          <a:xfrm>
            <a:off x="7446050" y="5459492"/>
            <a:ext cx="2651522" cy="308015"/>
          </a:xfrm>
          <a:prstGeom prst="rect">
            <a:avLst/>
          </a:prstGeom>
          <a:noFill/>
        </p:spPr>
        <p:txBody>
          <a:bodyPr wrap="none" lIns="0" tIns="0" rIns="0" bIns="0" rtlCol="0" anchor="t"/>
          <a:lstStyle/>
          <a:p>
            <a:pPr marL="0" indent="0" algn="l">
              <a:lnSpc>
                <a:spcPts val="2400"/>
              </a:lnSpc>
              <a:buNone/>
            </a:pPr>
            <a:r>
              <a:rPr lang="en-US" sz="1900" dirty="0">
                <a:solidFill>
                  <a:srgbClr val="2B3541"/>
                </a:solidFill>
                <a:latin typeface="Funnel Display" pitchFamily="34" charset="0"/>
                <a:ea typeface="Funnel Display" pitchFamily="34" charset="-122"/>
                <a:cs typeface="Funnel Display" pitchFamily="34" charset="-120"/>
              </a:rPr>
              <a:t>Application Dashboard</a:t>
            </a:r>
            <a:endParaRPr lang="en-US" sz="1900" dirty="0"/>
          </a:p>
        </p:txBody>
      </p:sp>
      <p:sp>
        <p:nvSpPr>
          <p:cNvPr id="15" name="Text 9"/>
          <p:cNvSpPr/>
          <p:nvPr/>
        </p:nvSpPr>
        <p:spPr>
          <a:xfrm>
            <a:off x="7446050" y="5893118"/>
            <a:ext cx="6346627" cy="335042"/>
          </a:xfrm>
          <a:prstGeom prst="rect">
            <a:avLst/>
          </a:prstGeom>
          <a:noFill/>
        </p:spPr>
        <p:txBody>
          <a:bodyPr wrap="none" lIns="0" tIns="0" rIns="0" bIns="0" rtlCol="0" anchor="t"/>
          <a:lstStyle/>
          <a:p>
            <a:pPr marL="0" indent="0" algn="l">
              <a:lnSpc>
                <a:spcPts val="2600"/>
              </a:lnSpc>
              <a:buNone/>
            </a:pPr>
            <a:r>
              <a:rPr lang="en-US" altLang="en-US" sz="1600" dirty="0"/>
              <a:t>Offers a centralized dashboard where candidates can track application </a:t>
            </a:r>
            <a:endParaRPr lang="en-US" altLang="en-US" sz="1600" dirty="0"/>
          </a:p>
          <a:p>
            <a:pPr marL="0" indent="0" algn="l">
              <a:lnSpc>
                <a:spcPts val="2600"/>
              </a:lnSpc>
              <a:buNone/>
            </a:pPr>
            <a:r>
              <a:rPr lang="en-US" altLang="en-US" sz="1600" dirty="0"/>
              <a:t>status, and recruiters can review and manage received applications efficiently.</a:t>
            </a:r>
            <a:endParaRPr lang="en-US" altLang="en-US" sz="1600" dirty="0"/>
          </a:p>
        </p:txBody>
      </p:sp>
      <p:sp>
        <p:nvSpPr>
          <p:cNvPr id="16" name="Text 10"/>
          <p:cNvSpPr/>
          <p:nvPr/>
        </p:nvSpPr>
        <p:spPr>
          <a:xfrm>
            <a:off x="837724" y="6647299"/>
            <a:ext cx="12954952" cy="670084"/>
          </a:xfrm>
          <a:prstGeom prst="rect">
            <a:avLst/>
          </a:prstGeom>
          <a:noFill/>
        </p:spPr>
        <p:txBody>
          <a:bodyPr wrap="square" lIns="0" tIns="0" rIns="0" bIns="0" rtlCol="0" anchor="t"/>
          <a:lstStyle/>
          <a:p>
            <a:pPr marL="0" indent="0" algn="l">
              <a:lnSpc>
                <a:spcPts val="2600"/>
              </a:lnSpc>
              <a:buNone/>
            </a:pPr>
            <a:r>
              <a:rPr lang="en-US" sz="1600" dirty="0">
                <a:solidFill>
                  <a:srgbClr val="2B3541"/>
                </a:solidFill>
                <a:latin typeface="Funnel Sans" pitchFamily="34" charset="0"/>
                <a:ea typeface="Funnel Sans" pitchFamily="34" charset="-122"/>
                <a:cs typeface="Funnel Sans" pitchFamily="34" charset="-120"/>
              </a:rPr>
              <a:t>The process involves user registration/login, token generation, job browsing, and application submission, with the backend verifying tokens and updating MongoDB records.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9270" y="644366"/>
            <a:ext cx="4524613" cy="426839"/>
          </a:xfrm>
          <a:prstGeom prst="rect">
            <a:avLst/>
          </a:prstGeom>
          <a:noFill/>
        </p:spPr>
        <p:txBody>
          <a:bodyPr wrap="none" lIns="0" tIns="0" rIns="0" bIns="0" rtlCol="0" anchor="t"/>
          <a:lstStyle/>
          <a:p>
            <a:pPr marL="0" indent="0" algn="l">
              <a:lnSpc>
                <a:spcPts val="3350"/>
              </a:lnSpc>
              <a:buNone/>
            </a:pPr>
            <a:r>
              <a:rPr lang="en-US" sz="2650" dirty="0">
                <a:solidFill>
                  <a:srgbClr val="051D3A"/>
                </a:solidFill>
                <a:latin typeface="Funnel Display" pitchFamily="34" charset="0"/>
                <a:ea typeface="Funnel Display" pitchFamily="34" charset="-122"/>
                <a:cs typeface="Funnel Display" pitchFamily="34" charset="-120"/>
              </a:rPr>
              <a:t>Conclusions &amp; Future Scope</a:t>
            </a:r>
            <a:endParaRPr lang="en-US" sz="2650" dirty="0"/>
          </a:p>
        </p:txBody>
      </p:sp>
      <p:sp>
        <p:nvSpPr>
          <p:cNvPr id="3" name="Text 1"/>
          <p:cNvSpPr/>
          <p:nvPr/>
        </p:nvSpPr>
        <p:spPr>
          <a:xfrm>
            <a:off x="829270" y="1274326"/>
            <a:ext cx="12971859" cy="197287"/>
          </a:xfrm>
          <a:prstGeom prst="rect">
            <a:avLst/>
          </a:prstGeom>
          <a:noFill/>
        </p:spPr>
        <p:txBody>
          <a:bodyPr wrap="none" lIns="0" tIns="0" rIns="0" bIns="0" rtlCol="0" anchor="t"/>
          <a:lstStyle/>
          <a:p>
            <a:pPr marL="0" indent="0" algn="l">
              <a:lnSpc>
                <a:spcPts val="1550"/>
              </a:lnSpc>
              <a:buNone/>
            </a:pPr>
            <a:r>
              <a:rPr lang="en-US" altLang="en-US" sz="1100" dirty="0"/>
              <a:t>The project successfully delivered a secure, scalable, and user-friendly job searching and hiring platform that streamlines recruitment by improving application tracking, transparency, and overall user experience. </a:t>
            </a:r>
            <a:endParaRPr lang="en-US" altLang="en-US" sz="1100" dirty="0"/>
          </a:p>
          <a:p>
            <a:pPr marL="0" indent="0" algn="l">
              <a:lnSpc>
                <a:spcPts val="1550"/>
              </a:lnSpc>
              <a:buNone/>
            </a:pPr>
            <a:r>
              <a:rPr lang="en-US" altLang="en-US" sz="1100" dirty="0"/>
              <a:t>By effectively utilizing the MERN stack, the system demonstrates efficient performance, real-time data handling, and secure authentication. In the future, the platform can be enhanced by integrating AI-based job </a:t>
            </a:r>
            <a:endParaRPr lang="en-US" altLang="en-US" sz="1100" dirty="0"/>
          </a:p>
          <a:p>
            <a:pPr marL="0" indent="0" algn="l">
              <a:lnSpc>
                <a:spcPts val="1550"/>
              </a:lnSpc>
              <a:buNone/>
            </a:pPr>
            <a:r>
              <a:rPr lang="en-US" altLang="en-US" sz="1100" dirty="0"/>
              <a:t>recommendations, resume parsing, in-platform video interviews, mobile application support, and social profile integration to further modernize and expand its recruitment capabilities.</a:t>
            </a:r>
            <a:endParaRPr lang="en-US" altLang="en-US" sz="1100" dirty="0"/>
          </a:p>
        </p:txBody>
      </p:sp>
      <p:sp>
        <p:nvSpPr>
          <p:cNvPr id="4" name="Text 2"/>
          <p:cNvSpPr/>
          <p:nvPr/>
        </p:nvSpPr>
        <p:spPr>
          <a:xfrm>
            <a:off x="936585" y="2197894"/>
            <a:ext cx="2049066" cy="256103"/>
          </a:xfrm>
          <a:prstGeom prst="rect">
            <a:avLst/>
          </a:prstGeom>
          <a:noFill/>
        </p:spPr>
        <p:txBody>
          <a:bodyPr wrap="none" lIns="0" tIns="0" rIns="0" bIns="0" rtlCol="0" anchor="t"/>
          <a:lstStyle/>
          <a:p>
            <a:pPr marL="0" indent="0" algn="l">
              <a:lnSpc>
                <a:spcPts val="2000"/>
              </a:lnSpc>
              <a:buNone/>
            </a:pPr>
            <a:r>
              <a:rPr lang="en-US" sz="1600" dirty="0">
                <a:solidFill>
                  <a:srgbClr val="051D3A"/>
                </a:solidFill>
                <a:latin typeface="Funnel Display" pitchFamily="34" charset="0"/>
                <a:ea typeface="Funnel Display" pitchFamily="34" charset="-122"/>
                <a:cs typeface="Funnel Display" pitchFamily="34" charset="-120"/>
              </a:rPr>
              <a:t>Key Achievements</a:t>
            </a:r>
            <a:endParaRPr lang="en-US" sz="1600" dirty="0"/>
          </a:p>
        </p:txBody>
      </p:sp>
      <p:sp>
        <p:nvSpPr>
          <p:cNvPr id="5" name="Text 3"/>
          <p:cNvSpPr/>
          <p:nvPr/>
        </p:nvSpPr>
        <p:spPr>
          <a:xfrm>
            <a:off x="829270" y="2567623"/>
            <a:ext cx="6308884" cy="197287"/>
          </a:xfrm>
          <a:prstGeom prst="rect">
            <a:avLst/>
          </a:prstGeom>
          <a:noFill/>
        </p:spPr>
        <p:txBody>
          <a:bodyPr wrap="none" lIns="0" tIns="0" rIns="0" bIns="0" rtlCol="0" anchor="t"/>
          <a:lstStyle/>
          <a:p>
            <a:pPr marL="342900" indent="-342900" algn="l">
              <a:lnSpc>
                <a:spcPts val="1550"/>
              </a:lnSpc>
              <a:buSzPct val="100000"/>
              <a:buChar char="•"/>
            </a:pPr>
            <a:r>
              <a:rPr lang="en-US" sz="1100" dirty="0">
                <a:solidFill>
                  <a:srgbClr val="2B3541"/>
                </a:solidFill>
                <a:latin typeface="Funnel Sans" pitchFamily="34" charset="0"/>
                <a:ea typeface="Funnel Sans" pitchFamily="34" charset="-122"/>
                <a:cs typeface="Funnel Sans" pitchFamily="34" charset="-120"/>
              </a:rPr>
              <a:t>Deep insights into MERN stack architecture.</a:t>
            </a:r>
            <a:endParaRPr lang="en-US" sz="1100" dirty="0"/>
          </a:p>
        </p:txBody>
      </p:sp>
      <p:sp>
        <p:nvSpPr>
          <p:cNvPr id="6" name="Text 4"/>
          <p:cNvSpPr/>
          <p:nvPr/>
        </p:nvSpPr>
        <p:spPr>
          <a:xfrm>
            <a:off x="829270" y="2814360"/>
            <a:ext cx="6308884" cy="197287"/>
          </a:xfrm>
          <a:prstGeom prst="rect">
            <a:avLst/>
          </a:prstGeom>
          <a:noFill/>
        </p:spPr>
        <p:txBody>
          <a:bodyPr wrap="none" lIns="0" tIns="0" rIns="0" bIns="0" rtlCol="0" anchor="t"/>
          <a:lstStyle/>
          <a:p>
            <a:pPr marL="342900" indent="-342900" algn="l">
              <a:lnSpc>
                <a:spcPts val="1550"/>
              </a:lnSpc>
              <a:buSzPct val="100000"/>
              <a:buChar char="•"/>
            </a:pPr>
            <a:r>
              <a:rPr lang="en-US" sz="1100" dirty="0">
                <a:solidFill>
                  <a:srgbClr val="2B3541"/>
                </a:solidFill>
                <a:latin typeface="Funnel Sans" pitchFamily="34" charset="0"/>
                <a:ea typeface="Funnel Sans" pitchFamily="34" charset="-122"/>
                <a:cs typeface="Funnel Sans" pitchFamily="34" charset="-120"/>
              </a:rPr>
              <a:t>Simplified application tracking, addressing a major pain point.</a:t>
            </a:r>
            <a:endParaRPr lang="en-US" sz="1100" dirty="0"/>
          </a:p>
        </p:txBody>
      </p:sp>
      <p:sp>
        <p:nvSpPr>
          <p:cNvPr id="7" name="Text 5"/>
          <p:cNvSpPr/>
          <p:nvPr/>
        </p:nvSpPr>
        <p:spPr>
          <a:xfrm>
            <a:off x="829270" y="3031252"/>
            <a:ext cx="6308884" cy="197287"/>
          </a:xfrm>
          <a:prstGeom prst="rect">
            <a:avLst/>
          </a:prstGeom>
          <a:noFill/>
        </p:spPr>
        <p:txBody>
          <a:bodyPr wrap="none" lIns="0" tIns="0" rIns="0" bIns="0" rtlCol="0" anchor="t"/>
          <a:lstStyle/>
          <a:p>
            <a:pPr marL="342900" indent="-342900" algn="l">
              <a:lnSpc>
                <a:spcPts val="1550"/>
              </a:lnSpc>
              <a:buSzPct val="100000"/>
              <a:buChar char="•"/>
            </a:pPr>
            <a:r>
              <a:rPr lang="en-US" sz="1100" dirty="0">
                <a:solidFill>
                  <a:srgbClr val="2B3541"/>
                </a:solidFill>
                <a:latin typeface="Funnel Sans" pitchFamily="34" charset="0"/>
                <a:ea typeface="Funnel Sans" pitchFamily="34" charset="-122"/>
                <a:cs typeface="Funnel Sans" pitchFamily="34" charset="-120"/>
              </a:rPr>
              <a:t>Efficient performance with low latency due to NodeJS.</a:t>
            </a:r>
            <a:endParaRPr lang="en-US" sz="1100" dirty="0"/>
          </a:p>
        </p:txBody>
      </p:sp>
      <p:pic>
        <p:nvPicPr>
          <p:cNvPr id="8" name="Image 0" descr="preencoded.png"/>
          <p:cNvPicPr>
            <a:picLocks noChangeAspect="1"/>
          </p:cNvPicPr>
          <p:nvPr/>
        </p:nvPicPr>
        <p:blipFill>
          <a:blip r:embed="rId1"/>
          <a:stretch>
            <a:fillRect/>
          </a:stretch>
        </p:blipFill>
        <p:spPr>
          <a:xfrm>
            <a:off x="828635" y="3371929"/>
            <a:ext cx="4416147" cy="3325297"/>
          </a:xfrm>
          <a:prstGeom prst="rect">
            <a:avLst/>
          </a:prstGeom>
        </p:spPr>
      </p:pic>
      <p:sp>
        <p:nvSpPr>
          <p:cNvPr id="9" name="Text 6"/>
          <p:cNvSpPr/>
          <p:nvPr/>
        </p:nvSpPr>
        <p:spPr>
          <a:xfrm>
            <a:off x="7499866" y="2197894"/>
            <a:ext cx="2143839" cy="256103"/>
          </a:xfrm>
          <a:prstGeom prst="rect">
            <a:avLst/>
          </a:prstGeom>
          <a:noFill/>
        </p:spPr>
        <p:txBody>
          <a:bodyPr wrap="none" lIns="0" tIns="0" rIns="0" bIns="0" rtlCol="0" anchor="t"/>
          <a:lstStyle/>
          <a:p>
            <a:pPr marL="0" indent="0" algn="l">
              <a:lnSpc>
                <a:spcPts val="2000"/>
              </a:lnSpc>
              <a:buNone/>
            </a:pPr>
            <a:r>
              <a:rPr lang="en-US" sz="1600" dirty="0">
                <a:solidFill>
                  <a:srgbClr val="051D3A"/>
                </a:solidFill>
                <a:latin typeface="Funnel Display" pitchFamily="34" charset="0"/>
                <a:ea typeface="Funnel Display" pitchFamily="34" charset="-122"/>
                <a:cs typeface="Funnel Display" pitchFamily="34" charset="-120"/>
              </a:rPr>
              <a:t>Future Enhancements</a:t>
            </a:r>
            <a:endParaRPr lang="en-US" sz="1600" dirty="0"/>
          </a:p>
        </p:txBody>
      </p:sp>
      <p:sp>
        <p:nvSpPr>
          <p:cNvPr id="10" name="Text 7"/>
          <p:cNvSpPr/>
          <p:nvPr/>
        </p:nvSpPr>
        <p:spPr>
          <a:xfrm>
            <a:off x="7499866" y="2562543"/>
            <a:ext cx="6308884" cy="197287"/>
          </a:xfrm>
          <a:prstGeom prst="rect">
            <a:avLst/>
          </a:prstGeom>
          <a:noFill/>
        </p:spPr>
        <p:txBody>
          <a:bodyPr wrap="none" lIns="0" tIns="0" rIns="0" bIns="0" rtlCol="0" anchor="t"/>
          <a:lstStyle/>
          <a:p>
            <a:pPr marL="0" indent="0" algn="l">
              <a:lnSpc>
                <a:spcPts val="1550"/>
              </a:lnSpc>
              <a:buSzPct val="100000"/>
              <a:buNone/>
            </a:pPr>
            <a:r>
              <a:rPr lang="en-US" sz="1100" b="1" dirty="0">
                <a:solidFill>
                  <a:srgbClr val="2B3541"/>
                </a:solidFill>
                <a:latin typeface="Funnel Sans" pitchFamily="34" charset="0"/>
                <a:ea typeface="Funnel Sans" pitchFamily="34" charset="-122"/>
                <a:cs typeface="Funnel Sans" pitchFamily="34" charset="-120"/>
              </a:rPr>
              <a:t>AI-Based Matching:</a:t>
            </a:r>
            <a:r>
              <a:rPr lang="en-US" sz="1100" dirty="0">
                <a:solidFill>
                  <a:srgbClr val="2B3541"/>
                </a:solidFill>
                <a:latin typeface="Funnel Sans" pitchFamily="34" charset="0"/>
                <a:ea typeface="Funnel Sans" pitchFamily="34" charset="-122"/>
                <a:cs typeface="Funnel Sans" pitchFamily="34" charset="-120"/>
              </a:rPr>
              <a:t> Implement ML algorithms for resume parsing and job recommendations.</a:t>
            </a:r>
            <a:endParaRPr lang="en-US" sz="1100" dirty="0"/>
          </a:p>
        </p:txBody>
      </p:sp>
      <p:sp>
        <p:nvSpPr>
          <p:cNvPr id="11" name="Text 8"/>
          <p:cNvSpPr/>
          <p:nvPr/>
        </p:nvSpPr>
        <p:spPr>
          <a:xfrm>
            <a:off x="7499866" y="2800390"/>
            <a:ext cx="6308884" cy="197287"/>
          </a:xfrm>
          <a:prstGeom prst="rect">
            <a:avLst/>
          </a:prstGeom>
          <a:noFill/>
        </p:spPr>
        <p:txBody>
          <a:bodyPr wrap="none" lIns="0" tIns="0" rIns="0" bIns="0" rtlCol="0" anchor="t"/>
          <a:lstStyle/>
          <a:p>
            <a:pPr marL="0" indent="0" algn="l">
              <a:lnSpc>
                <a:spcPts val="1550"/>
              </a:lnSpc>
              <a:buSzPct val="100000"/>
              <a:buNone/>
            </a:pPr>
            <a:r>
              <a:rPr lang="en-US" sz="1100" b="1" dirty="0">
                <a:solidFill>
                  <a:srgbClr val="2B3541"/>
                </a:solidFill>
                <a:latin typeface="Funnel Sans" pitchFamily="34" charset="0"/>
                <a:ea typeface="Funnel Sans" pitchFamily="34" charset="-122"/>
                <a:cs typeface="Funnel Sans" pitchFamily="34" charset="-120"/>
              </a:rPr>
              <a:t>Video Interviews:</a:t>
            </a:r>
            <a:r>
              <a:rPr lang="en-US" sz="1100" dirty="0">
                <a:solidFill>
                  <a:srgbClr val="2B3541"/>
                </a:solidFill>
                <a:latin typeface="Funnel Sans" pitchFamily="34" charset="0"/>
                <a:ea typeface="Funnel Sans" pitchFamily="34" charset="-122"/>
                <a:cs typeface="Funnel Sans" pitchFamily="34" charset="-120"/>
              </a:rPr>
              <a:t> Integrate WebRTC for in-platform video interviews.</a:t>
            </a:r>
            <a:endParaRPr lang="en-US" sz="1100" dirty="0"/>
          </a:p>
        </p:txBody>
      </p:sp>
      <p:sp>
        <p:nvSpPr>
          <p:cNvPr id="12" name="Text 9"/>
          <p:cNvSpPr/>
          <p:nvPr/>
        </p:nvSpPr>
        <p:spPr>
          <a:xfrm>
            <a:off x="7499866" y="3037602"/>
            <a:ext cx="6308884" cy="197287"/>
          </a:xfrm>
          <a:prstGeom prst="rect">
            <a:avLst/>
          </a:prstGeom>
          <a:noFill/>
        </p:spPr>
        <p:txBody>
          <a:bodyPr wrap="none" lIns="0" tIns="0" rIns="0" bIns="0" rtlCol="0" anchor="t"/>
          <a:lstStyle/>
          <a:p>
            <a:pPr marL="0" indent="0" algn="l">
              <a:lnSpc>
                <a:spcPts val="1550"/>
              </a:lnSpc>
              <a:buSzPct val="100000"/>
              <a:buNone/>
            </a:pPr>
            <a:r>
              <a:rPr lang="en-US" sz="1100" b="1" dirty="0">
                <a:solidFill>
                  <a:srgbClr val="2B3541"/>
                </a:solidFill>
                <a:latin typeface="Funnel Sans" pitchFamily="34" charset="0"/>
                <a:ea typeface="Funnel Sans" pitchFamily="34" charset="-122"/>
                <a:cs typeface="Funnel Sans" pitchFamily="34" charset="-120"/>
              </a:rPr>
              <a:t>Mobile App:</a:t>
            </a:r>
            <a:r>
              <a:rPr lang="en-US" sz="1100" dirty="0">
                <a:solidFill>
                  <a:srgbClr val="2B3541"/>
                </a:solidFill>
                <a:latin typeface="Funnel Sans" pitchFamily="34" charset="0"/>
                <a:ea typeface="Funnel Sans" pitchFamily="34" charset="-122"/>
                <a:cs typeface="Funnel Sans" pitchFamily="34" charset="-120"/>
              </a:rPr>
              <a:t> Develop a React Native application for on-the-go access.</a:t>
            </a:r>
            <a:endParaRPr lang="en-US" sz="1100" dirty="0"/>
          </a:p>
        </p:txBody>
      </p:sp>
      <p:sp>
        <p:nvSpPr>
          <p:cNvPr id="13" name="Text 10"/>
          <p:cNvSpPr/>
          <p:nvPr/>
        </p:nvSpPr>
        <p:spPr>
          <a:xfrm>
            <a:off x="7499866" y="3274814"/>
            <a:ext cx="6308884" cy="197287"/>
          </a:xfrm>
          <a:prstGeom prst="rect">
            <a:avLst/>
          </a:prstGeom>
          <a:noFill/>
        </p:spPr>
        <p:txBody>
          <a:bodyPr wrap="none" lIns="0" tIns="0" rIns="0" bIns="0" rtlCol="0" anchor="t"/>
          <a:lstStyle/>
          <a:p>
            <a:pPr marL="0" indent="0" algn="l">
              <a:lnSpc>
                <a:spcPts val="1550"/>
              </a:lnSpc>
              <a:buSzPct val="100000"/>
              <a:buNone/>
            </a:pPr>
            <a:r>
              <a:rPr lang="en-US" sz="1100" b="1" dirty="0">
                <a:solidFill>
                  <a:srgbClr val="2B3541"/>
                </a:solidFill>
                <a:latin typeface="Funnel Sans" pitchFamily="34" charset="0"/>
                <a:ea typeface="Funnel Sans" pitchFamily="34" charset="-122"/>
                <a:cs typeface="Funnel Sans" pitchFamily="34" charset="-120"/>
              </a:rPr>
              <a:t>Social Integration:</a:t>
            </a:r>
            <a:r>
              <a:rPr lang="en-US" sz="1100" dirty="0">
                <a:solidFill>
                  <a:srgbClr val="2B3541"/>
                </a:solidFill>
                <a:latin typeface="Funnel Sans" pitchFamily="34" charset="0"/>
                <a:ea typeface="Funnel Sans" pitchFamily="34" charset="-122"/>
                <a:cs typeface="Funnel Sans" pitchFamily="34" charset="-120"/>
              </a:rPr>
              <a:t> Allow profile imports from LinkedIn or GitHub.</a:t>
            </a:r>
            <a:endParaRPr lang="en-US" sz="1100" dirty="0"/>
          </a:p>
        </p:txBody>
      </p:sp>
      <p:pic>
        <p:nvPicPr>
          <p:cNvPr id="14" name="Image 1" descr="preencoded.png"/>
          <p:cNvPicPr>
            <a:picLocks noChangeAspect="1"/>
          </p:cNvPicPr>
          <p:nvPr/>
        </p:nvPicPr>
        <p:blipFill>
          <a:blip r:embed="rId2"/>
          <a:stretch>
            <a:fillRect/>
          </a:stretch>
        </p:blipFill>
        <p:spPr>
          <a:xfrm>
            <a:off x="7499985" y="3565525"/>
            <a:ext cx="4416425" cy="39058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8692</Words>
  <Application>WPS Presentation</Application>
  <PresentationFormat>Custom</PresentationFormat>
  <Paragraphs>203</Paragraphs>
  <Slides>10</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10</vt:i4>
      </vt:variant>
    </vt:vector>
  </HeadingPairs>
  <TitlesOfParts>
    <vt:vector size="23" baseType="lpstr">
      <vt:lpstr>Arial</vt:lpstr>
      <vt:lpstr>SimSun</vt:lpstr>
      <vt:lpstr>Wingdings</vt:lpstr>
      <vt:lpstr>Funnel Display</vt:lpstr>
      <vt:lpstr>Funnel Display</vt:lpstr>
      <vt:lpstr>Funnel Display</vt:lpstr>
      <vt:lpstr>Funnel Sans</vt:lpstr>
      <vt:lpstr>Funnel Sans</vt:lpstr>
      <vt:lpstr>Funnel Sans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SARANYA ROUT</dc:creator>
  <cp:lastModifiedBy>Om suryakanta Panda</cp:lastModifiedBy>
  <cp:revision>6</cp:revision>
  <dcterms:created xsi:type="dcterms:W3CDTF">2026-01-23T12:01:00Z</dcterms:created>
  <dcterms:modified xsi:type="dcterms:W3CDTF">2026-01-24T05:58:15Z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666166995CD07FD0F85C7369C498C1AA_42</vt:lpwstr>
  </property>
  <property fmtid="{D5CDD505-2E9C-101B-9397-08002B2CF9AE}" pid="3" name="KSOProductBuildVer">
    <vt:lpwstr>1033-12.2.0.23196</vt:lpwstr>
  </property>
</Properties>
</file>